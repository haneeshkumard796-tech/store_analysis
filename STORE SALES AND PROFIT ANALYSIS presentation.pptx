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8933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1pPr>
    <a:lvl2pPr marL="0" marR="0" indent="4572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2pPr>
    <a:lvl3pPr marL="0" marR="0" indent="9144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3pPr>
    <a:lvl4pPr marL="0" marR="0" indent="13716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4pPr>
    <a:lvl5pPr marL="0" marR="0" indent="18288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5pPr>
    <a:lvl6pPr marL="0" marR="0" indent="22860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6pPr>
    <a:lvl7pPr marL="0" marR="0" indent="27432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7pPr>
    <a:lvl8pPr marL="0" marR="0" indent="32004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8pPr>
    <a:lvl9pPr marL="0" marR="0" indent="36576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0DEEF"/>
          </a:solidFill>
        </a:fill>
      </a:tcStyle>
    </a:wholeTbl>
    <a:band2H>
      <a:tcTxStyle/>
      <a:tcStyle>
        <a:tcBdr/>
        <a:fill>
          <a:solidFill>
            <a:srgbClr val="E9EFF7"/>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a:tcStyle>
        <a:tcBdr/>
        <a:fill>
          <a:solidFill>
            <a:srgbClr val="F0F0F0"/>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a:tcStyle>
        <a:tcBdr/>
        <a:fill>
          <a:solidFill>
            <a:srgbClr val="EBF1E8"/>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
          <a:latin typeface="Calibri"/>
          <a:ea typeface="Calibri"/>
          <a:cs typeface="Calibri"/>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
          <a:latin typeface="Calibri"/>
          <a:ea typeface="Calibri"/>
          <a:cs typeface="Calibri"/>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Calibri"/>
          <a:ea typeface="Calibri"/>
          <a:cs typeface="Calibri"/>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Calibri"/>
          <a:ea typeface="Calibri"/>
          <a:cs typeface="Calibri"/>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25"/>
  </p:normalViewPr>
  <p:slideViewPr>
    <p:cSldViewPr snapToGrid="0">
      <p:cViewPr varScale="1">
        <p:scale>
          <a:sx n="100" d="100"/>
          <a:sy n="100" d="100"/>
        </p:scale>
        <p:origin x="1728" y="1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5" name="Shape 65"/>
          <p:cNvSpPr>
            <a:spLocks noGrp="1" noRot="1" noChangeAspect="1"/>
          </p:cNvSpPr>
          <p:nvPr>
            <p:ph type="sldImg"/>
          </p:nvPr>
        </p:nvSpPr>
        <p:spPr>
          <a:xfrm>
            <a:off x="1143000" y="685800"/>
            <a:ext cx="4572000" cy="3429000"/>
          </a:xfrm>
          <a:prstGeom prst="rect">
            <a:avLst/>
          </a:prstGeom>
        </p:spPr>
        <p:txBody>
          <a:bodyPr/>
          <a:lstStyle/>
          <a:p>
            <a:endParaRPr/>
          </a:p>
        </p:txBody>
      </p:sp>
      <p:sp>
        <p:nvSpPr>
          <p:cNvPr id="66" name="Shape 66"/>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맑은 고딕"/>
      </a:defRPr>
    </a:lvl1pPr>
    <a:lvl2pPr indent="228600" latinLnBrk="0">
      <a:defRPr sz="1200">
        <a:latin typeface="+mn-lt"/>
        <a:ea typeface="+mn-ea"/>
        <a:cs typeface="+mn-cs"/>
        <a:sym typeface="맑은 고딕"/>
      </a:defRPr>
    </a:lvl2pPr>
    <a:lvl3pPr indent="457200" latinLnBrk="0">
      <a:defRPr sz="1200">
        <a:latin typeface="+mn-lt"/>
        <a:ea typeface="+mn-ea"/>
        <a:cs typeface="+mn-cs"/>
        <a:sym typeface="맑은 고딕"/>
      </a:defRPr>
    </a:lvl3pPr>
    <a:lvl4pPr indent="685800" latinLnBrk="0">
      <a:defRPr sz="1200">
        <a:latin typeface="+mn-lt"/>
        <a:ea typeface="+mn-ea"/>
        <a:cs typeface="+mn-cs"/>
        <a:sym typeface="맑은 고딕"/>
      </a:defRPr>
    </a:lvl4pPr>
    <a:lvl5pPr indent="914400" latinLnBrk="0">
      <a:defRPr sz="1200">
        <a:latin typeface="+mn-lt"/>
        <a:ea typeface="+mn-ea"/>
        <a:cs typeface="+mn-cs"/>
        <a:sym typeface="맑은 고딕"/>
      </a:defRPr>
    </a:lvl5pPr>
    <a:lvl6pPr indent="1143000" latinLnBrk="0">
      <a:defRPr sz="1200">
        <a:latin typeface="+mn-lt"/>
        <a:ea typeface="+mn-ea"/>
        <a:cs typeface="+mn-cs"/>
        <a:sym typeface="맑은 고딕"/>
      </a:defRPr>
    </a:lvl6pPr>
    <a:lvl7pPr indent="1371600" latinLnBrk="0">
      <a:defRPr sz="1200">
        <a:latin typeface="+mn-lt"/>
        <a:ea typeface="+mn-ea"/>
        <a:cs typeface="+mn-cs"/>
        <a:sym typeface="맑은 고딕"/>
      </a:defRPr>
    </a:lvl7pPr>
    <a:lvl8pPr indent="1600200" latinLnBrk="0">
      <a:defRPr sz="1200">
        <a:latin typeface="+mn-lt"/>
        <a:ea typeface="+mn-ea"/>
        <a:cs typeface="+mn-cs"/>
        <a:sym typeface="맑은 고딕"/>
      </a:defRPr>
    </a:lvl8pPr>
    <a:lvl9pPr indent="1828800" latinLnBrk="0">
      <a:defRPr sz="1200">
        <a:latin typeface="+mn-lt"/>
        <a:ea typeface="+mn-ea"/>
        <a:cs typeface="+mn-cs"/>
        <a:sym typeface="맑은 고딕"/>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Shape 71"/>
          <p:cNvSpPr>
            <a:spLocks noGrp="1" noRot="1" noChangeAspect="1"/>
          </p:cNvSpPr>
          <p:nvPr>
            <p:ph type="sldImg"/>
          </p:nvPr>
        </p:nvSpPr>
        <p:spPr>
          <a:prstGeom prst="rect">
            <a:avLst/>
          </a:prstGeom>
        </p:spPr>
        <p:txBody>
          <a:bodyPr/>
          <a:lstStyle/>
          <a:p>
            <a:endParaRPr/>
          </a:p>
        </p:txBody>
      </p:sp>
      <p:sp>
        <p:nvSpPr>
          <p:cNvPr id="72" name="Shape 72"/>
          <p:cNvSpPr>
            <a:spLocks noGrp="1"/>
          </p:cNvSpPr>
          <p:nvPr>
            <p:ph type="body" sz="quarter" idx="1"/>
          </p:nvPr>
        </p:nvSpPr>
        <p:spPr>
          <a:prstGeom prst="rect">
            <a:avLst/>
          </a:prstGeom>
        </p:spPr>
        <p:txBody>
          <a:bodyPr/>
          <a:lstStyle/>
          <a:p>
            <a:r>
              <a:t>Note: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Shape 80"/>
          <p:cNvSpPr>
            <a:spLocks noGrp="1" noRot="1" noChangeAspect="1"/>
          </p:cNvSpPr>
          <p:nvPr>
            <p:ph type="sldImg"/>
          </p:nvPr>
        </p:nvSpPr>
        <p:spPr>
          <a:xfrm>
            <a:off x="955675" y="685800"/>
            <a:ext cx="4946650" cy="3429000"/>
          </a:xfrm>
          <a:prstGeom prst="rect">
            <a:avLst/>
          </a:prstGeom>
        </p:spPr>
        <p:txBody>
          <a:bodyPr/>
          <a:lstStyle/>
          <a:p>
            <a:endParaRPr/>
          </a:p>
        </p:txBody>
      </p:sp>
      <p:sp>
        <p:nvSpPr>
          <p:cNvPr id="81" name="Shape 81"/>
          <p:cNvSpPr>
            <a:spLocks noGrp="1"/>
          </p:cNvSpPr>
          <p:nvPr>
            <p:ph type="body" sz="quarter" idx="1"/>
          </p:nvPr>
        </p:nvSpPr>
        <p:spPr>
          <a:prstGeom prst="rect">
            <a:avLst/>
          </a:prstGeom>
        </p:spPr>
        <p:txBody>
          <a:bodyPr/>
          <a:lstStyle/>
          <a:p>
            <a:r>
              <a:t>Note: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Shape 88"/>
          <p:cNvSpPr>
            <a:spLocks noGrp="1" noRot="1" noChangeAspect="1"/>
          </p:cNvSpPr>
          <p:nvPr>
            <p:ph type="sldImg"/>
          </p:nvPr>
        </p:nvSpPr>
        <p:spPr>
          <a:xfrm>
            <a:off x="955675" y="685800"/>
            <a:ext cx="4946650" cy="3429000"/>
          </a:xfrm>
          <a:prstGeom prst="rect">
            <a:avLst/>
          </a:prstGeom>
        </p:spPr>
        <p:txBody>
          <a:bodyPr/>
          <a:lstStyle/>
          <a:p>
            <a:endParaRPr/>
          </a:p>
        </p:txBody>
      </p:sp>
      <p:sp>
        <p:nvSpPr>
          <p:cNvPr id="89" name="Shape 89"/>
          <p:cNvSpPr>
            <a:spLocks noGrp="1"/>
          </p:cNvSpPr>
          <p:nvPr>
            <p:ph type="body" sz="quarter" idx="1"/>
          </p:nvPr>
        </p:nvSpPr>
        <p:spPr>
          <a:prstGeom prst="rect">
            <a:avLst/>
          </a:prstGeom>
        </p:spPr>
        <p:txBody>
          <a:bodyPr/>
          <a:lstStyle/>
          <a:p>
            <a:r>
              <a:t>Note: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Shape 96"/>
          <p:cNvSpPr>
            <a:spLocks noGrp="1" noRot="1" noChangeAspect="1"/>
          </p:cNvSpPr>
          <p:nvPr>
            <p:ph type="sldImg"/>
          </p:nvPr>
        </p:nvSpPr>
        <p:spPr>
          <a:prstGeom prst="rect">
            <a:avLst/>
          </a:prstGeom>
        </p:spPr>
        <p:txBody>
          <a:bodyPr/>
          <a:lstStyle/>
          <a:p>
            <a:endParaRPr/>
          </a:p>
        </p:txBody>
      </p:sp>
      <p:sp>
        <p:nvSpPr>
          <p:cNvPr id="97" name="Shape 97"/>
          <p:cNvSpPr>
            <a:spLocks noGrp="1"/>
          </p:cNvSpPr>
          <p:nvPr>
            <p:ph type="body" sz="quarter" idx="1"/>
          </p:nvPr>
        </p:nvSpPr>
        <p:spPr>
          <a:prstGeom prst="rect">
            <a:avLst/>
          </a:prstGeom>
        </p:spPr>
        <p:txBody>
          <a:bodyPr/>
          <a:lstStyle/>
          <a:p>
            <a:r>
              <a:t>Note: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Shape 104"/>
          <p:cNvSpPr>
            <a:spLocks noGrp="1" noRot="1" noChangeAspect="1"/>
          </p:cNvSpPr>
          <p:nvPr>
            <p:ph type="sldImg"/>
          </p:nvPr>
        </p:nvSpPr>
        <p:spPr>
          <a:prstGeom prst="rect">
            <a:avLst/>
          </a:prstGeom>
        </p:spPr>
        <p:txBody>
          <a:bodyPr/>
          <a:lstStyle/>
          <a:p>
            <a:endParaRPr/>
          </a:p>
        </p:txBody>
      </p:sp>
      <p:sp>
        <p:nvSpPr>
          <p:cNvPr id="105" name="Shape 105"/>
          <p:cNvSpPr>
            <a:spLocks noGrp="1"/>
          </p:cNvSpPr>
          <p:nvPr>
            <p:ph type="body" sz="quarter" idx="1"/>
          </p:nvPr>
        </p:nvSpPr>
        <p:spPr>
          <a:prstGeom prst="rect">
            <a:avLst/>
          </a:prstGeom>
        </p:spPr>
        <p:txBody>
          <a:bodyPr/>
          <a:lstStyle/>
          <a:p>
            <a:r>
              <a:t>Note: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Shape 113"/>
          <p:cNvSpPr>
            <a:spLocks noGrp="1" noRot="1" noChangeAspect="1"/>
          </p:cNvSpPr>
          <p:nvPr>
            <p:ph type="sldImg"/>
          </p:nvPr>
        </p:nvSpPr>
        <p:spPr>
          <a:prstGeom prst="rect">
            <a:avLst/>
          </a:prstGeom>
        </p:spPr>
        <p:txBody>
          <a:bodyPr/>
          <a:lstStyle/>
          <a:p>
            <a:endParaRPr/>
          </a:p>
        </p:txBody>
      </p:sp>
      <p:sp>
        <p:nvSpPr>
          <p:cNvPr id="114" name="Shape 114"/>
          <p:cNvSpPr>
            <a:spLocks noGrp="1"/>
          </p:cNvSpPr>
          <p:nvPr>
            <p:ph type="body" sz="quarter" idx="1"/>
          </p:nvPr>
        </p:nvSpPr>
        <p:spPr>
          <a:prstGeom prst="rect">
            <a:avLst/>
          </a:prstGeom>
        </p:spPr>
        <p:txBody>
          <a:bodyPr/>
          <a:lstStyle/>
          <a:p>
            <a:r>
              <a:t>Note: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Shape 122"/>
          <p:cNvSpPr>
            <a:spLocks noGrp="1" noRot="1" noChangeAspect="1"/>
          </p:cNvSpPr>
          <p:nvPr>
            <p:ph type="sldImg"/>
          </p:nvPr>
        </p:nvSpPr>
        <p:spPr>
          <a:prstGeom prst="rect">
            <a:avLst/>
          </a:prstGeom>
        </p:spPr>
        <p:txBody>
          <a:bodyPr/>
          <a:lstStyle/>
          <a:p>
            <a:endParaRPr/>
          </a:p>
        </p:txBody>
      </p:sp>
      <p:sp>
        <p:nvSpPr>
          <p:cNvPr id="123" name="Shape 123"/>
          <p:cNvSpPr>
            <a:spLocks noGrp="1"/>
          </p:cNvSpPr>
          <p:nvPr>
            <p:ph type="body" sz="quarter" idx="1"/>
          </p:nvPr>
        </p:nvSpPr>
        <p:spPr>
          <a:prstGeom prst="rect">
            <a:avLst/>
          </a:prstGeom>
        </p:spPr>
        <p:txBody>
          <a:bodyPr/>
          <a:lstStyle/>
          <a:p>
            <a:r>
              <a:t>Note: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Shape 131"/>
          <p:cNvSpPr>
            <a:spLocks noGrp="1" noRot="1" noChangeAspect="1"/>
          </p:cNvSpPr>
          <p:nvPr>
            <p:ph type="sldImg"/>
          </p:nvPr>
        </p:nvSpPr>
        <p:spPr>
          <a:prstGeom prst="rect">
            <a:avLst/>
          </a:prstGeom>
        </p:spPr>
        <p:txBody>
          <a:bodyPr/>
          <a:lstStyle/>
          <a:p>
            <a:endParaRPr/>
          </a:p>
        </p:txBody>
      </p:sp>
      <p:sp>
        <p:nvSpPr>
          <p:cNvPr id="132" name="Shape 132"/>
          <p:cNvSpPr>
            <a:spLocks noGrp="1"/>
          </p:cNvSpPr>
          <p:nvPr>
            <p:ph type="body" sz="quarter" idx="1"/>
          </p:nvPr>
        </p:nvSpPr>
        <p:spPr>
          <a:prstGeom prst="rect">
            <a:avLst/>
          </a:prstGeom>
        </p:spPr>
        <p:txBody>
          <a:bodyPr/>
          <a:lstStyle/>
          <a:p>
            <a:r>
              <a:t>Note: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Shape 140"/>
          <p:cNvSpPr>
            <a:spLocks noGrp="1" noRot="1" noChangeAspect="1"/>
          </p:cNvSpPr>
          <p:nvPr>
            <p:ph type="sldImg"/>
          </p:nvPr>
        </p:nvSpPr>
        <p:spPr>
          <a:prstGeom prst="rect">
            <a:avLst/>
          </a:prstGeom>
        </p:spPr>
        <p:txBody>
          <a:bodyPr/>
          <a:lstStyle/>
          <a:p>
            <a:endParaRPr/>
          </a:p>
        </p:txBody>
      </p:sp>
      <p:sp>
        <p:nvSpPr>
          <p:cNvPr id="141" name="Shape 141"/>
          <p:cNvSpPr>
            <a:spLocks noGrp="1"/>
          </p:cNvSpPr>
          <p:nvPr>
            <p:ph type="body" sz="quarter" idx="1"/>
          </p:nvPr>
        </p:nvSpPr>
        <p:spPr>
          <a:prstGeom prst="rect">
            <a:avLst/>
          </a:prstGeom>
        </p:spPr>
        <p:txBody>
          <a:bodyPr/>
          <a:lstStyle/>
          <a:p>
            <a:r>
              <a:t>Note: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Shape 149"/>
          <p:cNvSpPr>
            <a:spLocks noGrp="1" noRot="1" noChangeAspect="1"/>
          </p:cNvSpPr>
          <p:nvPr>
            <p:ph type="sldImg"/>
          </p:nvPr>
        </p:nvSpPr>
        <p:spPr>
          <a:prstGeom prst="rect">
            <a:avLst/>
          </a:prstGeom>
        </p:spPr>
        <p:txBody>
          <a:bodyPr/>
          <a:lstStyle/>
          <a:p>
            <a:endParaRPr/>
          </a:p>
        </p:txBody>
      </p:sp>
      <p:sp>
        <p:nvSpPr>
          <p:cNvPr id="150" name="Shape 150"/>
          <p:cNvSpPr>
            <a:spLocks noGrp="1"/>
          </p:cNvSpPr>
          <p:nvPr>
            <p:ph type="body" sz="quarter" idx="1"/>
          </p:nvPr>
        </p:nvSpPr>
        <p:spPr>
          <a:prstGeom prst="rect">
            <a:avLst/>
          </a:prstGeom>
        </p:spPr>
        <p:txBody>
          <a:bodyPr/>
          <a:lstStyle/>
          <a:p>
            <a:r>
              <a:t>Note: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Shape 158"/>
          <p:cNvSpPr>
            <a:spLocks noGrp="1" noRot="1" noChangeAspect="1"/>
          </p:cNvSpPr>
          <p:nvPr>
            <p:ph type="sldImg"/>
          </p:nvPr>
        </p:nvSpPr>
        <p:spPr>
          <a:prstGeom prst="rect">
            <a:avLst/>
          </a:prstGeom>
        </p:spPr>
        <p:txBody>
          <a:bodyPr/>
          <a:lstStyle/>
          <a:p>
            <a:endParaRPr/>
          </a:p>
        </p:txBody>
      </p:sp>
      <p:sp>
        <p:nvSpPr>
          <p:cNvPr id="159" name="Shape 159"/>
          <p:cNvSpPr>
            <a:spLocks noGrp="1"/>
          </p:cNvSpPr>
          <p:nvPr>
            <p:ph type="body" sz="quarter" idx="1"/>
          </p:nvPr>
        </p:nvSpPr>
        <p:spPr>
          <a:prstGeom prst="rect">
            <a:avLst/>
          </a:prstGeom>
        </p:spPr>
        <p:txBody>
          <a:bodyPr/>
          <a:lstStyle/>
          <a:p>
            <a:r>
              <a:t>Note: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 name="Shape 167"/>
          <p:cNvSpPr>
            <a:spLocks noGrp="1" noRot="1" noChangeAspect="1"/>
          </p:cNvSpPr>
          <p:nvPr>
            <p:ph type="sldImg"/>
          </p:nvPr>
        </p:nvSpPr>
        <p:spPr>
          <a:prstGeom prst="rect">
            <a:avLst/>
          </a:prstGeom>
        </p:spPr>
        <p:txBody>
          <a:bodyPr/>
          <a:lstStyle/>
          <a:p>
            <a:endParaRPr/>
          </a:p>
        </p:txBody>
      </p:sp>
      <p:sp>
        <p:nvSpPr>
          <p:cNvPr id="168" name="Shape 168"/>
          <p:cNvSpPr>
            <a:spLocks noGrp="1"/>
          </p:cNvSpPr>
          <p:nvPr>
            <p:ph type="body" sz="quarter" idx="1"/>
          </p:nvPr>
        </p:nvSpPr>
        <p:spPr>
          <a:prstGeom prst="rect">
            <a:avLst/>
          </a:prstGeom>
        </p:spPr>
        <p:txBody>
          <a:bodyPr/>
          <a:lstStyle/>
          <a:p>
            <a:r>
              <a:t>Note: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 name="Shape 175"/>
          <p:cNvSpPr>
            <a:spLocks noGrp="1" noRot="1" noChangeAspect="1"/>
          </p:cNvSpPr>
          <p:nvPr>
            <p:ph type="sldImg"/>
          </p:nvPr>
        </p:nvSpPr>
        <p:spPr>
          <a:prstGeom prst="rect">
            <a:avLst/>
          </a:prstGeom>
        </p:spPr>
        <p:txBody>
          <a:bodyPr/>
          <a:lstStyle/>
          <a:p>
            <a:endParaRPr/>
          </a:p>
        </p:txBody>
      </p:sp>
      <p:sp>
        <p:nvSpPr>
          <p:cNvPr id="176" name="Shape 176"/>
          <p:cNvSpPr>
            <a:spLocks noGrp="1"/>
          </p:cNvSpPr>
          <p:nvPr>
            <p:ph type="body" sz="quarter" idx="1"/>
          </p:nvPr>
        </p:nvSpPr>
        <p:spPr>
          <a:prstGeom prst="rect">
            <a:avLst/>
          </a:prstGeom>
        </p:spPr>
        <p:txBody>
          <a:bodyPr/>
          <a:lstStyle/>
          <a:p>
            <a:r>
              <a:t>Note: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 name="Shape 183"/>
          <p:cNvSpPr>
            <a:spLocks noGrp="1" noRot="1" noChangeAspect="1"/>
          </p:cNvSpPr>
          <p:nvPr>
            <p:ph type="sldImg"/>
          </p:nvPr>
        </p:nvSpPr>
        <p:spPr>
          <a:prstGeom prst="rect">
            <a:avLst/>
          </a:prstGeom>
        </p:spPr>
        <p:txBody>
          <a:bodyPr/>
          <a:lstStyle/>
          <a:p>
            <a:endParaRPr/>
          </a:p>
        </p:txBody>
      </p:sp>
      <p:sp>
        <p:nvSpPr>
          <p:cNvPr id="184" name="Shape 184"/>
          <p:cNvSpPr>
            <a:spLocks noGrp="1"/>
          </p:cNvSpPr>
          <p:nvPr>
            <p:ph type="body" sz="quarter" idx="1"/>
          </p:nvPr>
        </p:nvSpPr>
        <p:spPr>
          <a:prstGeom prst="rect">
            <a:avLst/>
          </a:prstGeom>
        </p:spPr>
        <p:txBody>
          <a:bodyPr/>
          <a:lstStyle/>
          <a:p>
            <a:r>
              <a:t>Note: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Front Cover">
    <p:spTree>
      <p:nvGrpSpPr>
        <p:cNvPr id="1" name=""/>
        <p:cNvGrpSpPr/>
        <p:nvPr/>
      </p:nvGrpSpPr>
      <p:grpSpPr>
        <a:xfrm>
          <a:off x="0" y="0"/>
          <a:ext cx="0" cy="0"/>
          <a:chOff x="0" y="0"/>
          <a:chExt cx="0" cy="0"/>
        </a:xfrm>
      </p:grpSpPr>
      <p:sp>
        <p:nvSpPr>
          <p:cNvPr id="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Interim Cover">
    <p:spTree>
      <p:nvGrpSpPr>
        <p:cNvPr id="1" name=""/>
        <p:cNvGrpSpPr/>
        <p:nvPr/>
      </p:nvGrpSpPr>
      <p:grpSpPr>
        <a:xfrm>
          <a:off x="0" y="0"/>
          <a:ext cx="0" cy="0"/>
          <a:chOff x="0" y="0"/>
          <a:chExt cx="0" cy="0"/>
        </a:xfrm>
      </p:grpSpPr>
      <p:sp>
        <p:nvSpPr>
          <p:cNvPr id="20" name="직사각형 133"/>
          <p:cNvSpPr txBox="1"/>
          <p:nvPr/>
        </p:nvSpPr>
        <p:spPr>
          <a:xfrm>
            <a:off x="565652" y="6344480"/>
            <a:ext cx="2614279" cy="203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300">
                <a:solidFill>
                  <a:srgbClr val="FFFFFF"/>
                </a:solidFill>
                <a:latin typeface="Samsung Sharp Sans"/>
                <a:ea typeface="Samsung Sharp Sans"/>
                <a:cs typeface="Samsung Sharp Sans"/>
                <a:sym typeface="Samsung Sharp Sans"/>
              </a:defRPr>
            </a:lvl1pPr>
          </a:lstStyle>
          <a:p>
            <a:r>
              <a:t>Samsung Innovation Campus</a:t>
            </a:r>
          </a:p>
        </p:txBody>
      </p:sp>
      <p:sp>
        <p:nvSpPr>
          <p:cNvPr id="2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Table of Contents">
    <p:bg>
      <p:bgPr>
        <a:solidFill>
          <a:srgbClr val="FFFFFF"/>
        </a:solidFill>
        <a:effectLst/>
      </p:bgPr>
    </p:bg>
    <p:spTree>
      <p:nvGrpSpPr>
        <p:cNvPr id="1" name=""/>
        <p:cNvGrpSpPr/>
        <p:nvPr/>
      </p:nvGrpSpPr>
      <p:grpSpPr>
        <a:xfrm>
          <a:off x="0" y="0"/>
          <a:ext cx="0" cy="0"/>
          <a:chOff x="0" y="0"/>
          <a:chExt cx="0" cy="0"/>
        </a:xfrm>
      </p:grpSpPr>
      <p:sp>
        <p:nvSpPr>
          <p:cNvPr id="28" name="직사각형 8"/>
          <p:cNvSpPr/>
          <p:nvPr/>
        </p:nvSpPr>
        <p:spPr>
          <a:xfrm>
            <a:off x="0" y="0"/>
            <a:ext cx="9902825" cy="2070538"/>
          </a:xfrm>
          <a:prstGeom prst="rect">
            <a:avLst/>
          </a:prstGeom>
          <a:solidFill>
            <a:srgbClr val="193EB0"/>
          </a:solidFill>
          <a:ln w="12700">
            <a:miter lim="400000"/>
          </a:ln>
        </p:spPr>
        <p:txBody>
          <a:bodyPr lIns="45719" rIns="45719" anchor="ctr"/>
          <a:lstStyle/>
          <a:p>
            <a:pPr algn="ctr">
              <a:defRPr>
                <a:solidFill>
                  <a:srgbClr val="FFFFFF"/>
                </a:solidFill>
              </a:defRPr>
            </a:pPr>
            <a:endParaRPr/>
          </a:p>
        </p:txBody>
      </p:sp>
      <p:sp>
        <p:nvSpPr>
          <p:cNvPr id="29" name="직선 연결선 8"/>
          <p:cNvSpPr/>
          <p:nvPr/>
        </p:nvSpPr>
        <p:spPr>
          <a:xfrm>
            <a:off x="579205" y="6218954"/>
            <a:ext cx="8774346" cy="1"/>
          </a:xfrm>
          <a:prstGeom prst="line">
            <a:avLst/>
          </a:prstGeom>
          <a:ln w="6350">
            <a:solidFill>
              <a:srgbClr val="BFBFBF"/>
            </a:solidFill>
            <a:miter/>
          </a:ln>
        </p:spPr>
        <p:txBody>
          <a:bodyPr lIns="45719" rIns="45719"/>
          <a:lstStyle/>
          <a:p>
            <a:endParaRPr/>
          </a:p>
        </p:txBody>
      </p:sp>
      <p:sp>
        <p:nvSpPr>
          <p:cNvPr id="30" name="직사각형 7"/>
          <p:cNvSpPr txBox="1"/>
          <p:nvPr/>
        </p:nvSpPr>
        <p:spPr>
          <a:xfrm>
            <a:off x="572596" y="6355370"/>
            <a:ext cx="2888789" cy="203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300">
                <a:solidFill>
                  <a:srgbClr val="808080"/>
                </a:solidFill>
                <a:latin typeface="Samsung Sharp Sans Bold"/>
                <a:ea typeface="Samsung Sharp Sans Bold"/>
                <a:cs typeface="Samsung Sharp Sans Bold"/>
                <a:sym typeface="Samsung Sharp Sans Bold"/>
              </a:defRPr>
            </a:lvl1pPr>
          </a:lstStyle>
          <a:p>
            <a:r>
              <a:t>Samsung Innovation Campus</a:t>
            </a:r>
          </a:p>
        </p:txBody>
      </p:sp>
      <p:sp>
        <p:nvSpPr>
          <p:cNvPr id="3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Body">
    <p:bg>
      <p:bgPr>
        <a:solidFill>
          <a:srgbClr val="FFFFFF"/>
        </a:solidFill>
        <a:effectLst/>
      </p:bgPr>
    </p:bg>
    <p:spTree>
      <p:nvGrpSpPr>
        <p:cNvPr id="1" name=""/>
        <p:cNvGrpSpPr/>
        <p:nvPr/>
      </p:nvGrpSpPr>
      <p:grpSpPr>
        <a:xfrm>
          <a:off x="0" y="0"/>
          <a:ext cx="0" cy="0"/>
          <a:chOff x="0" y="0"/>
          <a:chExt cx="0" cy="0"/>
        </a:xfrm>
      </p:grpSpPr>
      <p:sp>
        <p:nvSpPr>
          <p:cNvPr id="38" name="Rectangle 70"/>
          <p:cNvSpPr/>
          <p:nvPr/>
        </p:nvSpPr>
        <p:spPr>
          <a:xfrm>
            <a:off x="-2" y="-1"/>
            <a:ext cx="9902826" cy="1197332"/>
          </a:xfrm>
          <a:prstGeom prst="rect">
            <a:avLst/>
          </a:prstGeom>
          <a:solidFill>
            <a:srgbClr val="193EB0"/>
          </a:solidFill>
          <a:ln w="12700">
            <a:miter lim="400000"/>
          </a:ln>
        </p:spPr>
        <p:txBody>
          <a:bodyPr lIns="45719" rIns="45719" anchor="ctr"/>
          <a:lstStyle/>
          <a:p>
            <a:pPr algn="ctr">
              <a:defRPr>
                <a:solidFill>
                  <a:srgbClr val="FFFFFF"/>
                </a:solidFill>
              </a:defRPr>
            </a:pPr>
            <a:endParaRPr/>
          </a:p>
        </p:txBody>
      </p:sp>
      <p:sp>
        <p:nvSpPr>
          <p:cNvPr id="39" name="직선 연결선 8"/>
          <p:cNvSpPr/>
          <p:nvPr/>
        </p:nvSpPr>
        <p:spPr>
          <a:xfrm>
            <a:off x="569680" y="6209429"/>
            <a:ext cx="8774346" cy="1"/>
          </a:xfrm>
          <a:prstGeom prst="line">
            <a:avLst/>
          </a:prstGeom>
          <a:ln w="6350">
            <a:solidFill>
              <a:srgbClr val="BFBFBF"/>
            </a:solidFill>
            <a:miter/>
          </a:ln>
        </p:spPr>
        <p:txBody>
          <a:bodyPr lIns="45719" rIns="45719"/>
          <a:lstStyle/>
          <a:p>
            <a:endParaRPr/>
          </a:p>
        </p:txBody>
      </p:sp>
      <p:sp>
        <p:nvSpPr>
          <p:cNvPr id="40" name="슬라이드 번호 개체 틀 15"/>
          <p:cNvSpPr txBox="1"/>
          <p:nvPr/>
        </p:nvSpPr>
        <p:spPr>
          <a:xfrm>
            <a:off x="8215995" y="6349792"/>
            <a:ext cx="858950" cy="1651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nchor="ctr">
            <a:spAutoFit/>
          </a:bodyPr>
          <a:lstStyle>
            <a:lvl1pPr algn="r" defTabSz="914400">
              <a:defRPr sz="1100">
                <a:solidFill>
                  <a:srgbClr val="808080"/>
                </a:solidFill>
                <a:latin typeface="SamsungOne 400"/>
                <a:ea typeface="SamsungOne 400"/>
                <a:cs typeface="SamsungOne 400"/>
                <a:sym typeface="SamsungOne 400"/>
              </a:defRPr>
            </a:lvl1pPr>
          </a:lstStyle>
          <a:p>
            <a:r>
              <a:t>Project Name</a:t>
            </a:r>
          </a:p>
        </p:txBody>
      </p:sp>
      <p:sp>
        <p:nvSpPr>
          <p:cNvPr id="41" name="Slide Number"/>
          <p:cNvSpPr txBox="1">
            <a:spLocks noGrp="1"/>
          </p:cNvSpPr>
          <p:nvPr>
            <p:ph type="sldNum" sz="quarter" idx="2"/>
          </p:nvPr>
        </p:nvSpPr>
        <p:spPr>
          <a:xfrm>
            <a:off x="9175937" y="6349792"/>
            <a:ext cx="168090" cy="165101"/>
          </a:xfrm>
          <a:prstGeom prst="rect">
            <a:avLst/>
          </a:prstGeom>
        </p:spPr>
        <p:txBody>
          <a:bodyPr lIns="0" tIns="0" rIns="0" bIns="0"/>
          <a:lstStyle>
            <a:lvl1pPr defTabSz="914400">
              <a:defRPr sz="1100">
                <a:solidFill>
                  <a:srgbClr val="808080"/>
                </a:solidFill>
                <a:latin typeface="SamsungOne 300"/>
                <a:ea typeface="SamsungOne 300"/>
                <a:cs typeface="SamsungOne 300"/>
                <a:sym typeface="SamsungOne 300"/>
              </a:defRPr>
            </a:lvl1pPr>
          </a:lstStyle>
          <a:p>
            <a:fld id="{86CB4B4D-7CA3-9044-876B-883B54F8677D}" type="slidenum">
              <a:t>‹#›</a:t>
            </a:fld>
            <a:endParaRPr/>
          </a:p>
        </p:txBody>
      </p:sp>
      <p:sp>
        <p:nvSpPr>
          <p:cNvPr id="42" name="직사각형 7"/>
          <p:cNvSpPr txBox="1"/>
          <p:nvPr/>
        </p:nvSpPr>
        <p:spPr>
          <a:xfrm>
            <a:off x="572596" y="6355370"/>
            <a:ext cx="2888789" cy="203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300">
                <a:solidFill>
                  <a:srgbClr val="808080"/>
                </a:solidFill>
                <a:latin typeface="Samsung Sharp Sans Bold"/>
                <a:ea typeface="Samsung Sharp Sans Bold"/>
                <a:cs typeface="Samsung Sharp Sans Bold"/>
                <a:sym typeface="Samsung Sharp Sans Bold"/>
              </a:defRPr>
            </a:lvl1pPr>
          </a:lstStyle>
          <a:p>
            <a:r>
              <a:t>Samsung Innovation Campus</a:t>
            </a: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Break Time Slide">
    <p:bg>
      <p:bgPr>
        <a:solidFill>
          <a:srgbClr val="FFFFFF"/>
        </a:solidFill>
        <a:effectLst/>
      </p:bgPr>
    </p:bg>
    <p:spTree>
      <p:nvGrpSpPr>
        <p:cNvPr id="1" name=""/>
        <p:cNvGrpSpPr/>
        <p:nvPr/>
      </p:nvGrpSpPr>
      <p:grpSpPr>
        <a:xfrm>
          <a:off x="0" y="0"/>
          <a:ext cx="0" cy="0"/>
          <a:chOff x="0" y="0"/>
          <a:chExt cx="0" cy="0"/>
        </a:xfrm>
      </p:grpSpPr>
      <p:sp>
        <p:nvSpPr>
          <p:cNvPr id="4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Back Cover">
    <p:spTree>
      <p:nvGrpSpPr>
        <p:cNvPr id="1" name=""/>
        <p:cNvGrpSpPr/>
        <p:nvPr/>
      </p:nvGrpSpPr>
      <p:grpSpPr>
        <a:xfrm>
          <a:off x="0" y="0"/>
          <a:ext cx="0" cy="0"/>
          <a:chOff x="0" y="0"/>
          <a:chExt cx="0" cy="0"/>
        </a:xfrm>
      </p:grpSpPr>
      <p:sp>
        <p:nvSpPr>
          <p:cNvPr id="56" name="직사각형 3"/>
          <p:cNvSpPr txBox="1"/>
          <p:nvPr/>
        </p:nvSpPr>
        <p:spPr>
          <a:xfrm>
            <a:off x="592976" y="5631041"/>
            <a:ext cx="9309849" cy="9017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defRPr sz="1000">
                <a:solidFill>
                  <a:srgbClr val="FFFFFF"/>
                </a:solidFill>
                <a:latin typeface="SamsungOne 400C"/>
                <a:ea typeface="SamsungOne 400C"/>
                <a:cs typeface="SamsungOne 400C"/>
                <a:sym typeface="SamsungOne 400C"/>
              </a:defRPr>
            </a:pPr>
            <a:r>
              <a:t>ⓒ2021 SAMSUNG. All rights reserved.</a:t>
            </a:r>
          </a:p>
          <a:p>
            <a:pPr>
              <a:spcBef>
                <a:spcPts val="600"/>
              </a:spcBef>
              <a:defRPr sz="1000">
                <a:solidFill>
                  <a:srgbClr val="FFFFFF"/>
                </a:solidFill>
                <a:latin typeface="SamsungOne 400C"/>
                <a:ea typeface="SamsungOne 400C"/>
                <a:cs typeface="SamsungOne 400C"/>
                <a:sym typeface="SamsungOne 400C"/>
              </a:defRPr>
            </a:pPr>
            <a:r>
              <a:t>Samsung Electronics Corporate Citizenship Office holds the copyright of book.</a:t>
            </a:r>
          </a:p>
          <a:p>
            <a:pPr>
              <a:spcBef>
                <a:spcPts val="300"/>
              </a:spcBef>
              <a:defRPr sz="1000">
                <a:solidFill>
                  <a:srgbClr val="FFFFFF"/>
                </a:solidFill>
                <a:latin typeface="SamsungOne 400C"/>
                <a:ea typeface="SamsungOne 400C"/>
                <a:cs typeface="SamsungOne 400C"/>
                <a:sym typeface="SamsungOne 400C"/>
              </a:defRPr>
            </a:pPr>
            <a:r>
              <a:t>This book is a literary property protected by copyright law so reprint and reproduction without permission are prohibited. </a:t>
            </a:r>
          </a:p>
          <a:p>
            <a:pPr>
              <a:defRPr sz="1000">
                <a:solidFill>
                  <a:srgbClr val="FFFFFF"/>
                </a:solidFill>
                <a:latin typeface="SamsungOne 400C"/>
                <a:ea typeface="SamsungOne 400C"/>
                <a:cs typeface="SamsungOne 400C"/>
                <a:sym typeface="SamsungOne 400C"/>
              </a:defRPr>
            </a:pPr>
            <a:r>
              <a:t>To use this book other than the curriculum of Samsung Innovation Campus or to use the entire or part of this book, you must receive written consent from copyright holder.</a:t>
            </a:r>
          </a:p>
        </p:txBody>
      </p:sp>
      <p:sp>
        <p:nvSpPr>
          <p:cNvPr id="57" name="Freeform 5"/>
          <p:cNvSpPr/>
          <p:nvPr/>
        </p:nvSpPr>
        <p:spPr>
          <a:xfrm>
            <a:off x="8060080" y="403957"/>
            <a:ext cx="1360964" cy="210193"/>
          </a:xfrm>
          <a:custGeom>
            <a:avLst/>
            <a:gdLst/>
            <a:ahLst/>
            <a:cxnLst>
              <a:cxn ang="0">
                <a:pos x="wd2" y="hd2"/>
              </a:cxn>
              <a:cxn ang="5400000">
                <a:pos x="wd2" y="hd2"/>
              </a:cxn>
              <a:cxn ang="10800000">
                <a:pos x="wd2" y="hd2"/>
              </a:cxn>
              <a:cxn ang="16200000">
                <a:pos x="wd2" y="hd2"/>
              </a:cxn>
            </a:cxnLst>
            <a:rect l="0" t="0" r="r" b="b"/>
            <a:pathLst>
              <a:path w="21600" h="21600" extrusionOk="0">
                <a:moveTo>
                  <a:pt x="823" y="5885"/>
                </a:moveTo>
                <a:cubicBezTo>
                  <a:pt x="803" y="5432"/>
                  <a:pt x="813" y="5044"/>
                  <a:pt x="813" y="4786"/>
                </a:cubicBezTo>
                <a:cubicBezTo>
                  <a:pt x="833" y="4139"/>
                  <a:pt x="902" y="3428"/>
                  <a:pt x="1100" y="3428"/>
                </a:cubicBezTo>
                <a:cubicBezTo>
                  <a:pt x="1279" y="3428"/>
                  <a:pt x="1388" y="4204"/>
                  <a:pt x="1388" y="5303"/>
                </a:cubicBezTo>
                <a:cubicBezTo>
                  <a:pt x="1388" y="6532"/>
                  <a:pt x="1388" y="6532"/>
                  <a:pt x="1388" y="6532"/>
                </a:cubicBezTo>
                <a:cubicBezTo>
                  <a:pt x="2161" y="6532"/>
                  <a:pt x="2161" y="6532"/>
                  <a:pt x="2161" y="6532"/>
                </a:cubicBezTo>
                <a:cubicBezTo>
                  <a:pt x="2161" y="5109"/>
                  <a:pt x="2161" y="5109"/>
                  <a:pt x="2161" y="5109"/>
                </a:cubicBezTo>
                <a:cubicBezTo>
                  <a:pt x="2161" y="711"/>
                  <a:pt x="1546" y="0"/>
                  <a:pt x="1110" y="0"/>
                </a:cubicBezTo>
                <a:cubicBezTo>
                  <a:pt x="565" y="0"/>
                  <a:pt x="119" y="1229"/>
                  <a:pt x="40" y="4527"/>
                </a:cubicBezTo>
                <a:cubicBezTo>
                  <a:pt x="10" y="5432"/>
                  <a:pt x="10" y="6208"/>
                  <a:pt x="40" y="7243"/>
                </a:cubicBezTo>
                <a:cubicBezTo>
                  <a:pt x="178" y="11317"/>
                  <a:pt x="1269" y="12546"/>
                  <a:pt x="1437" y="15133"/>
                </a:cubicBezTo>
                <a:cubicBezTo>
                  <a:pt x="1467" y="15586"/>
                  <a:pt x="1457" y="16232"/>
                  <a:pt x="1437" y="16620"/>
                </a:cubicBezTo>
                <a:cubicBezTo>
                  <a:pt x="1418" y="17267"/>
                  <a:pt x="1348" y="17978"/>
                  <a:pt x="1140" y="17978"/>
                </a:cubicBezTo>
                <a:cubicBezTo>
                  <a:pt x="942" y="17978"/>
                  <a:pt x="833" y="17267"/>
                  <a:pt x="833" y="16168"/>
                </a:cubicBezTo>
                <a:cubicBezTo>
                  <a:pt x="823" y="14228"/>
                  <a:pt x="823" y="14228"/>
                  <a:pt x="823" y="14228"/>
                </a:cubicBezTo>
                <a:cubicBezTo>
                  <a:pt x="0" y="14228"/>
                  <a:pt x="0" y="14228"/>
                  <a:pt x="0" y="14228"/>
                </a:cubicBezTo>
                <a:cubicBezTo>
                  <a:pt x="0" y="15780"/>
                  <a:pt x="0" y="15780"/>
                  <a:pt x="0" y="15780"/>
                </a:cubicBezTo>
                <a:cubicBezTo>
                  <a:pt x="0" y="20242"/>
                  <a:pt x="545" y="21600"/>
                  <a:pt x="1120" y="21600"/>
                </a:cubicBezTo>
                <a:cubicBezTo>
                  <a:pt x="1675" y="21600"/>
                  <a:pt x="2141" y="20371"/>
                  <a:pt x="2211" y="17008"/>
                </a:cubicBezTo>
                <a:cubicBezTo>
                  <a:pt x="2250" y="15262"/>
                  <a:pt x="2220" y="14098"/>
                  <a:pt x="2211" y="13710"/>
                </a:cubicBezTo>
                <a:cubicBezTo>
                  <a:pt x="2082" y="9442"/>
                  <a:pt x="912" y="8213"/>
                  <a:pt x="823" y="5885"/>
                </a:cubicBezTo>
                <a:moveTo>
                  <a:pt x="10864" y="5885"/>
                </a:moveTo>
                <a:cubicBezTo>
                  <a:pt x="10845" y="5497"/>
                  <a:pt x="10855" y="5109"/>
                  <a:pt x="10864" y="4850"/>
                </a:cubicBezTo>
                <a:cubicBezTo>
                  <a:pt x="10884" y="4204"/>
                  <a:pt x="10944" y="3492"/>
                  <a:pt x="11142" y="3492"/>
                </a:cubicBezTo>
                <a:cubicBezTo>
                  <a:pt x="11320" y="3492"/>
                  <a:pt x="11420" y="4268"/>
                  <a:pt x="11420" y="5303"/>
                </a:cubicBezTo>
                <a:cubicBezTo>
                  <a:pt x="11420" y="6596"/>
                  <a:pt x="11420" y="6596"/>
                  <a:pt x="11420" y="6596"/>
                </a:cubicBezTo>
                <a:cubicBezTo>
                  <a:pt x="12183" y="6596"/>
                  <a:pt x="12183" y="6596"/>
                  <a:pt x="12183" y="6596"/>
                </a:cubicBezTo>
                <a:cubicBezTo>
                  <a:pt x="12183" y="5174"/>
                  <a:pt x="12183" y="5174"/>
                  <a:pt x="12183" y="5174"/>
                </a:cubicBezTo>
                <a:cubicBezTo>
                  <a:pt x="12183" y="841"/>
                  <a:pt x="11588" y="129"/>
                  <a:pt x="11152" y="129"/>
                </a:cubicBezTo>
                <a:cubicBezTo>
                  <a:pt x="10607" y="129"/>
                  <a:pt x="10171" y="1293"/>
                  <a:pt x="10081" y="4592"/>
                </a:cubicBezTo>
                <a:cubicBezTo>
                  <a:pt x="10061" y="5432"/>
                  <a:pt x="10061" y="6273"/>
                  <a:pt x="10091" y="7243"/>
                </a:cubicBezTo>
                <a:cubicBezTo>
                  <a:pt x="10230" y="11317"/>
                  <a:pt x="11311" y="12481"/>
                  <a:pt x="11469" y="15068"/>
                </a:cubicBezTo>
                <a:cubicBezTo>
                  <a:pt x="11499" y="15586"/>
                  <a:pt x="11489" y="16168"/>
                  <a:pt x="11479" y="16556"/>
                </a:cubicBezTo>
                <a:cubicBezTo>
                  <a:pt x="11449" y="17267"/>
                  <a:pt x="11380" y="17914"/>
                  <a:pt x="11182" y="17914"/>
                </a:cubicBezTo>
                <a:cubicBezTo>
                  <a:pt x="10983" y="17914"/>
                  <a:pt x="10874" y="17202"/>
                  <a:pt x="10874" y="16103"/>
                </a:cubicBezTo>
                <a:cubicBezTo>
                  <a:pt x="10874" y="14163"/>
                  <a:pt x="10874" y="14163"/>
                  <a:pt x="10874" y="14163"/>
                </a:cubicBezTo>
                <a:cubicBezTo>
                  <a:pt x="10052" y="14163"/>
                  <a:pt x="10052" y="14163"/>
                  <a:pt x="10052" y="14163"/>
                </a:cubicBezTo>
                <a:cubicBezTo>
                  <a:pt x="10052" y="15715"/>
                  <a:pt x="10052" y="15715"/>
                  <a:pt x="10052" y="15715"/>
                </a:cubicBezTo>
                <a:cubicBezTo>
                  <a:pt x="10052" y="20177"/>
                  <a:pt x="10587" y="21471"/>
                  <a:pt x="11162" y="21471"/>
                </a:cubicBezTo>
                <a:cubicBezTo>
                  <a:pt x="11717" y="21471"/>
                  <a:pt x="12173" y="20242"/>
                  <a:pt x="12242" y="16944"/>
                </a:cubicBezTo>
                <a:cubicBezTo>
                  <a:pt x="12272" y="15198"/>
                  <a:pt x="12252" y="14098"/>
                  <a:pt x="12232" y="13646"/>
                </a:cubicBezTo>
                <a:cubicBezTo>
                  <a:pt x="12104" y="9507"/>
                  <a:pt x="10954" y="8213"/>
                  <a:pt x="10864" y="5885"/>
                </a:cubicBezTo>
                <a:moveTo>
                  <a:pt x="17873" y="16879"/>
                </a:moveTo>
                <a:cubicBezTo>
                  <a:pt x="17149" y="647"/>
                  <a:pt x="17149" y="647"/>
                  <a:pt x="17149" y="647"/>
                </a:cubicBezTo>
                <a:cubicBezTo>
                  <a:pt x="15999" y="647"/>
                  <a:pt x="15999" y="647"/>
                  <a:pt x="15999" y="647"/>
                </a:cubicBezTo>
                <a:cubicBezTo>
                  <a:pt x="15999" y="20630"/>
                  <a:pt x="15999" y="20630"/>
                  <a:pt x="15999" y="20630"/>
                </a:cubicBezTo>
                <a:cubicBezTo>
                  <a:pt x="16763" y="20630"/>
                  <a:pt x="16763" y="20630"/>
                  <a:pt x="16763" y="20630"/>
                </a:cubicBezTo>
                <a:cubicBezTo>
                  <a:pt x="16713" y="3880"/>
                  <a:pt x="16713" y="3880"/>
                  <a:pt x="16713" y="3880"/>
                </a:cubicBezTo>
                <a:cubicBezTo>
                  <a:pt x="17496" y="20630"/>
                  <a:pt x="17496" y="20630"/>
                  <a:pt x="17496" y="20630"/>
                </a:cubicBezTo>
                <a:cubicBezTo>
                  <a:pt x="18596" y="20630"/>
                  <a:pt x="18596" y="20630"/>
                  <a:pt x="18596" y="20630"/>
                </a:cubicBezTo>
                <a:cubicBezTo>
                  <a:pt x="18596" y="647"/>
                  <a:pt x="18596" y="647"/>
                  <a:pt x="18596" y="647"/>
                </a:cubicBezTo>
                <a:cubicBezTo>
                  <a:pt x="17833" y="647"/>
                  <a:pt x="17833" y="647"/>
                  <a:pt x="17833" y="647"/>
                </a:cubicBezTo>
                <a:lnTo>
                  <a:pt x="17873" y="16879"/>
                </a:lnTo>
                <a:close/>
                <a:moveTo>
                  <a:pt x="3301" y="647"/>
                </a:moveTo>
                <a:cubicBezTo>
                  <a:pt x="2736" y="20824"/>
                  <a:pt x="2736" y="20824"/>
                  <a:pt x="2736" y="20824"/>
                </a:cubicBezTo>
                <a:cubicBezTo>
                  <a:pt x="3569" y="20824"/>
                  <a:pt x="3569" y="20824"/>
                  <a:pt x="3569" y="20824"/>
                </a:cubicBezTo>
                <a:cubicBezTo>
                  <a:pt x="3995" y="2134"/>
                  <a:pt x="3995" y="2134"/>
                  <a:pt x="3995" y="2134"/>
                </a:cubicBezTo>
                <a:cubicBezTo>
                  <a:pt x="4421" y="20824"/>
                  <a:pt x="4421" y="20824"/>
                  <a:pt x="4421" y="20824"/>
                </a:cubicBezTo>
                <a:cubicBezTo>
                  <a:pt x="5244" y="20824"/>
                  <a:pt x="5244" y="20824"/>
                  <a:pt x="5244" y="20824"/>
                </a:cubicBezTo>
                <a:cubicBezTo>
                  <a:pt x="4679" y="647"/>
                  <a:pt x="4679" y="647"/>
                  <a:pt x="4679" y="647"/>
                </a:cubicBezTo>
                <a:lnTo>
                  <a:pt x="3301" y="647"/>
                </a:lnTo>
                <a:close/>
                <a:moveTo>
                  <a:pt x="7970" y="647"/>
                </a:moveTo>
                <a:cubicBezTo>
                  <a:pt x="7583" y="16426"/>
                  <a:pt x="7583" y="16426"/>
                  <a:pt x="7583" y="16426"/>
                </a:cubicBezTo>
                <a:cubicBezTo>
                  <a:pt x="7187" y="647"/>
                  <a:pt x="7187" y="647"/>
                  <a:pt x="7187" y="647"/>
                </a:cubicBezTo>
                <a:cubicBezTo>
                  <a:pt x="5928" y="647"/>
                  <a:pt x="5928" y="647"/>
                  <a:pt x="5928" y="647"/>
                </a:cubicBezTo>
                <a:cubicBezTo>
                  <a:pt x="5868" y="20824"/>
                  <a:pt x="5868" y="20824"/>
                  <a:pt x="5868" y="20824"/>
                </a:cubicBezTo>
                <a:cubicBezTo>
                  <a:pt x="6632" y="20824"/>
                  <a:pt x="6632" y="20824"/>
                  <a:pt x="6632" y="20824"/>
                </a:cubicBezTo>
                <a:cubicBezTo>
                  <a:pt x="6651" y="2134"/>
                  <a:pt x="6651" y="2134"/>
                  <a:pt x="6651" y="2134"/>
                </a:cubicBezTo>
                <a:cubicBezTo>
                  <a:pt x="7187" y="20824"/>
                  <a:pt x="7187" y="20824"/>
                  <a:pt x="7187" y="20824"/>
                </a:cubicBezTo>
                <a:cubicBezTo>
                  <a:pt x="7970" y="20824"/>
                  <a:pt x="7970" y="20824"/>
                  <a:pt x="7970" y="20824"/>
                </a:cubicBezTo>
                <a:cubicBezTo>
                  <a:pt x="8505" y="2134"/>
                  <a:pt x="8505" y="2134"/>
                  <a:pt x="8505" y="2134"/>
                </a:cubicBezTo>
                <a:cubicBezTo>
                  <a:pt x="8525" y="20824"/>
                  <a:pt x="8525" y="20824"/>
                  <a:pt x="8525" y="20824"/>
                </a:cubicBezTo>
                <a:cubicBezTo>
                  <a:pt x="9298" y="20824"/>
                  <a:pt x="9298" y="20824"/>
                  <a:pt x="9298" y="20824"/>
                </a:cubicBezTo>
                <a:cubicBezTo>
                  <a:pt x="9229" y="647"/>
                  <a:pt x="9229" y="647"/>
                  <a:pt x="9229" y="647"/>
                </a:cubicBezTo>
                <a:lnTo>
                  <a:pt x="7970" y="647"/>
                </a:lnTo>
                <a:close/>
                <a:moveTo>
                  <a:pt x="15147" y="647"/>
                </a:moveTo>
                <a:cubicBezTo>
                  <a:pt x="14364" y="647"/>
                  <a:pt x="14364" y="647"/>
                  <a:pt x="14364" y="647"/>
                </a:cubicBezTo>
                <a:cubicBezTo>
                  <a:pt x="14364" y="15586"/>
                  <a:pt x="14364" y="15586"/>
                  <a:pt x="14364" y="15586"/>
                </a:cubicBezTo>
                <a:cubicBezTo>
                  <a:pt x="14364" y="15844"/>
                  <a:pt x="14364" y="16103"/>
                  <a:pt x="14354" y="16362"/>
                </a:cubicBezTo>
                <a:cubicBezTo>
                  <a:pt x="14344" y="16814"/>
                  <a:pt x="14274" y="17784"/>
                  <a:pt x="14056" y="17784"/>
                </a:cubicBezTo>
                <a:cubicBezTo>
                  <a:pt x="13848" y="17784"/>
                  <a:pt x="13779" y="16814"/>
                  <a:pt x="13769" y="16362"/>
                </a:cubicBezTo>
                <a:cubicBezTo>
                  <a:pt x="13759" y="16103"/>
                  <a:pt x="13759" y="15844"/>
                  <a:pt x="13759" y="15586"/>
                </a:cubicBezTo>
                <a:cubicBezTo>
                  <a:pt x="13759" y="647"/>
                  <a:pt x="13759" y="647"/>
                  <a:pt x="13759" y="647"/>
                </a:cubicBezTo>
                <a:cubicBezTo>
                  <a:pt x="12976" y="647"/>
                  <a:pt x="12976" y="647"/>
                  <a:pt x="12976" y="647"/>
                </a:cubicBezTo>
                <a:cubicBezTo>
                  <a:pt x="12976" y="15133"/>
                  <a:pt x="12976" y="15133"/>
                  <a:pt x="12976" y="15133"/>
                </a:cubicBezTo>
                <a:cubicBezTo>
                  <a:pt x="12976" y="15456"/>
                  <a:pt x="12976" y="16232"/>
                  <a:pt x="12986" y="16426"/>
                </a:cubicBezTo>
                <a:cubicBezTo>
                  <a:pt x="13035" y="20177"/>
                  <a:pt x="13491" y="21406"/>
                  <a:pt x="14056" y="21406"/>
                </a:cubicBezTo>
                <a:cubicBezTo>
                  <a:pt x="14631" y="21406"/>
                  <a:pt x="15087" y="20177"/>
                  <a:pt x="15137" y="16426"/>
                </a:cubicBezTo>
                <a:cubicBezTo>
                  <a:pt x="15147" y="16232"/>
                  <a:pt x="15147" y="15456"/>
                  <a:pt x="15147" y="15133"/>
                </a:cubicBezTo>
                <a:lnTo>
                  <a:pt x="15147" y="647"/>
                </a:lnTo>
                <a:close/>
                <a:moveTo>
                  <a:pt x="20510" y="9507"/>
                </a:moveTo>
                <a:cubicBezTo>
                  <a:pt x="20510" y="12417"/>
                  <a:pt x="20510" y="12417"/>
                  <a:pt x="20510" y="12417"/>
                </a:cubicBezTo>
                <a:cubicBezTo>
                  <a:pt x="20827" y="12417"/>
                  <a:pt x="20827" y="12417"/>
                  <a:pt x="20827" y="12417"/>
                </a:cubicBezTo>
                <a:cubicBezTo>
                  <a:pt x="20827" y="15327"/>
                  <a:pt x="20827" y="15327"/>
                  <a:pt x="20827" y="15327"/>
                </a:cubicBezTo>
                <a:cubicBezTo>
                  <a:pt x="20827" y="15586"/>
                  <a:pt x="20827" y="15909"/>
                  <a:pt x="20817" y="16103"/>
                </a:cubicBezTo>
                <a:cubicBezTo>
                  <a:pt x="20807" y="16685"/>
                  <a:pt x="20728" y="17590"/>
                  <a:pt x="20500" y="17590"/>
                </a:cubicBezTo>
                <a:cubicBezTo>
                  <a:pt x="20272" y="17590"/>
                  <a:pt x="20202" y="16685"/>
                  <a:pt x="20182" y="16103"/>
                </a:cubicBezTo>
                <a:cubicBezTo>
                  <a:pt x="20182" y="15909"/>
                  <a:pt x="20173" y="15586"/>
                  <a:pt x="20173" y="15327"/>
                </a:cubicBezTo>
                <a:cubicBezTo>
                  <a:pt x="20173" y="6144"/>
                  <a:pt x="20173" y="6144"/>
                  <a:pt x="20173" y="6144"/>
                </a:cubicBezTo>
                <a:cubicBezTo>
                  <a:pt x="20173" y="5820"/>
                  <a:pt x="20182" y="5497"/>
                  <a:pt x="20192" y="5174"/>
                </a:cubicBezTo>
                <a:cubicBezTo>
                  <a:pt x="20202" y="4721"/>
                  <a:pt x="20272" y="3751"/>
                  <a:pt x="20500" y="3751"/>
                </a:cubicBezTo>
                <a:cubicBezTo>
                  <a:pt x="20738" y="3751"/>
                  <a:pt x="20797" y="4786"/>
                  <a:pt x="20807" y="5174"/>
                </a:cubicBezTo>
                <a:cubicBezTo>
                  <a:pt x="20817" y="5497"/>
                  <a:pt x="20817" y="5950"/>
                  <a:pt x="20817" y="5950"/>
                </a:cubicBezTo>
                <a:cubicBezTo>
                  <a:pt x="20817" y="7114"/>
                  <a:pt x="20817" y="7114"/>
                  <a:pt x="20817" y="7114"/>
                </a:cubicBezTo>
                <a:cubicBezTo>
                  <a:pt x="21590" y="7114"/>
                  <a:pt x="21590" y="7114"/>
                  <a:pt x="21590" y="7114"/>
                </a:cubicBezTo>
                <a:cubicBezTo>
                  <a:pt x="21590" y="6402"/>
                  <a:pt x="21590" y="6402"/>
                  <a:pt x="21590" y="6402"/>
                </a:cubicBezTo>
                <a:cubicBezTo>
                  <a:pt x="21590" y="6402"/>
                  <a:pt x="21600" y="5756"/>
                  <a:pt x="21590" y="5109"/>
                </a:cubicBezTo>
                <a:cubicBezTo>
                  <a:pt x="21531" y="1293"/>
                  <a:pt x="21055" y="129"/>
                  <a:pt x="20500" y="129"/>
                </a:cubicBezTo>
                <a:cubicBezTo>
                  <a:pt x="19954" y="129"/>
                  <a:pt x="19489" y="1358"/>
                  <a:pt x="19419" y="5109"/>
                </a:cubicBezTo>
                <a:cubicBezTo>
                  <a:pt x="19409" y="5432"/>
                  <a:pt x="19409" y="6079"/>
                  <a:pt x="19409" y="6402"/>
                </a:cubicBezTo>
                <a:cubicBezTo>
                  <a:pt x="19409" y="14874"/>
                  <a:pt x="19409" y="14874"/>
                  <a:pt x="19409" y="14874"/>
                </a:cubicBezTo>
                <a:cubicBezTo>
                  <a:pt x="19409" y="15262"/>
                  <a:pt x="19409" y="15586"/>
                  <a:pt x="19419" y="16232"/>
                </a:cubicBezTo>
                <a:cubicBezTo>
                  <a:pt x="19469" y="19919"/>
                  <a:pt x="19954" y="21212"/>
                  <a:pt x="20500" y="21212"/>
                </a:cubicBezTo>
                <a:cubicBezTo>
                  <a:pt x="21055" y="21212"/>
                  <a:pt x="21541" y="19919"/>
                  <a:pt x="21590" y="16232"/>
                </a:cubicBezTo>
                <a:cubicBezTo>
                  <a:pt x="21600" y="15586"/>
                  <a:pt x="21600" y="15262"/>
                  <a:pt x="21600" y="14874"/>
                </a:cubicBezTo>
                <a:cubicBezTo>
                  <a:pt x="21600" y="9507"/>
                  <a:pt x="21600" y="9507"/>
                  <a:pt x="21600" y="9507"/>
                </a:cubicBezTo>
                <a:lnTo>
                  <a:pt x="20510" y="9507"/>
                </a:lnTo>
                <a:close/>
              </a:path>
            </a:pathLst>
          </a:custGeom>
          <a:solidFill>
            <a:srgbClr val="FFFFFF"/>
          </a:solidFill>
          <a:ln w="12700">
            <a:miter lim="400000"/>
          </a:ln>
        </p:spPr>
        <p:txBody>
          <a:bodyPr lIns="45719" rIns="45719"/>
          <a:lstStyle/>
          <a:p>
            <a:endParaRPr/>
          </a:p>
        </p:txBody>
      </p:sp>
      <p:pic>
        <p:nvPicPr>
          <p:cNvPr id="58" name="Picture 6" descr="Picture 6"/>
          <p:cNvPicPr>
            <a:picLocks noChangeAspect="1"/>
          </p:cNvPicPr>
          <p:nvPr/>
        </p:nvPicPr>
        <p:blipFill>
          <a:blip r:embed="rId2"/>
          <a:stretch>
            <a:fillRect/>
          </a:stretch>
        </p:blipFill>
        <p:spPr>
          <a:xfrm>
            <a:off x="2928115" y="2766610"/>
            <a:ext cx="4046595" cy="1324779"/>
          </a:xfrm>
          <a:prstGeom prst="rect">
            <a:avLst/>
          </a:prstGeom>
          <a:ln w="12700">
            <a:miter lim="400000"/>
          </a:ln>
        </p:spPr>
      </p:pic>
      <p:sp>
        <p:nvSpPr>
          <p:cNvPr id="5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93EB0"/>
        </a:solidFill>
        <a:effectLst/>
      </p:bgPr>
    </p:bg>
    <p:spTree>
      <p:nvGrpSpPr>
        <p:cNvPr id="1" name=""/>
        <p:cNvGrpSpPr/>
        <p:nvPr/>
      </p:nvGrpSpPr>
      <p:grpSpPr>
        <a:xfrm>
          <a:off x="0" y="0"/>
          <a:ext cx="0" cy="0"/>
          <a:chOff x="0" y="0"/>
          <a:chExt cx="0" cy="0"/>
        </a:xfrm>
      </p:grpSpPr>
      <p:sp>
        <p:nvSpPr>
          <p:cNvPr id="2" name="직사각형 133"/>
          <p:cNvSpPr txBox="1"/>
          <p:nvPr/>
        </p:nvSpPr>
        <p:spPr>
          <a:xfrm>
            <a:off x="565652" y="6344480"/>
            <a:ext cx="2614279" cy="203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300">
                <a:solidFill>
                  <a:srgbClr val="FFFFFF"/>
                </a:solidFill>
                <a:latin typeface="Samsung Sharp Sans"/>
                <a:ea typeface="Samsung Sharp Sans"/>
                <a:cs typeface="Samsung Sharp Sans"/>
                <a:sym typeface="Samsung Sharp Sans"/>
              </a:defRPr>
            </a:lvl1pPr>
          </a:lstStyle>
          <a:p>
            <a:r>
              <a:t>Samsung Innovation Campus</a:t>
            </a:r>
          </a:p>
        </p:txBody>
      </p:sp>
      <p:sp>
        <p:nvSpPr>
          <p:cNvPr id="3" name="Freeform 5"/>
          <p:cNvSpPr/>
          <p:nvPr/>
        </p:nvSpPr>
        <p:spPr>
          <a:xfrm>
            <a:off x="7961228" y="403957"/>
            <a:ext cx="1360963" cy="210193"/>
          </a:xfrm>
          <a:custGeom>
            <a:avLst/>
            <a:gdLst/>
            <a:ahLst/>
            <a:cxnLst>
              <a:cxn ang="0">
                <a:pos x="wd2" y="hd2"/>
              </a:cxn>
              <a:cxn ang="5400000">
                <a:pos x="wd2" y="hd2"/>
              </a:cxn>
              <a:cxn ang="10800000">
                <a:pos x="wd2" y="hd2"/>
              </a:cxn>
              <a:cxn ang="16200000">
                <a:pos x="wd2" y="hd2"/>
              </a:cxn>
            </a:cxnLst>
            <a:rect l="0" t="0" r="r" b="b"/>
            <a:pathLst>
              <a:path w="21600" h="21600" extrusionOk="0">
                <a:moveTo>
                  <a:pt x="823" y="5885"/>
                </a:moveTo>
                <a:cubicBezTo>
                  <a:pt x="803" y="5432"/>
                  <a:pt x="813" y="5044"/>
                  <a:pt x="813" y="4786"/>
                </a:cubicBezTo>
                <a:cubicBezTo>
                  <a:pt x="833" y="4139"/>
                  <a:pt x="902" y="3428"/>
                  <a:pt x="1100" y="3428"/>
                </a:cubicBezTo>
                <a:cubicBezTo>
                  <a:pt x="1279" y="3428"/>
                  <a:pt x="1388" y="4204"/>
                  <a:pt x="1388" y="5303"/>
                </a:cubicBezTo>
                <a:cubicBezTo>
                  <a:pt x="1388" y="6532"/>
                  <a:pt x="1388" y="6532"/>
                  <a:pt x="1388" y="6532"/>
                </a:cubicBezTo>
                <a:cubicBezTo>
                  <a:pt x="2161" y="6532"/>
                  <a:pt x="2161" y="6532"/>
                  <a:pt x="2161" y="6532"/>
                </a:cubicBezTo>
                <a:cubicBezTo>
                  <a:pt x="2161" y="5109"/>
                  <a:pt x="2161" y="5109"/>
                  <a:pt x="2161" y="5109"/>
                </a:cubicBezTo>
                <a:cubicBezTo>
                  <a:pt x="2161" y="711"/>
                  <a:pt x="1546" y="0"/>
                  <a:pt x="1110" y="0"/>
                </a:cubicBezTo>
                <a:cubicBezTo>
                  <a:pt x="565" y="0"/>
                  <a:pt x="119" y="1229"/>
                  <a:pt x="40" y="4527"/>
                </a:cubicBezTo>
                <a:cubicBezTo>
                  <a:pt x="10" y="5432"/>
                  <a:pt x="10" y="6208"/>
                  <a:pt x="40" y="7243"/>
                </a:cubicBezTo>
                <a:cubicBezTo>
                  <a:pt x="178" y="11317"/>
                  <a:pt x="1269" y="12546"/>
                  <a:pt x="1437" y="15133"/>
                </a:cubicBezTo>
                <a:cubicBezTo>
                  <a:pt x="1467" y="15586"/>
                  <a:pt x="1457" y="16232"/>
                  <a:pt x="1437" y="16620"/>
                </a:cubicBezTo>
                <a:cubicBezTo>
                  <a:pt x="1418" y="17267"/>
                  <a:pt x="1348" y="17978"/>
                  <a:pt x="1140" y="17978"/>
                </a:cubicBezTo>
                <a:cubicBezTo>
                  <a:pt x="942" y="17978"/>
                  <a:pt x="833" y="17267"/>
                  <a:pt x="833" y="16168"/>
                </a:cubicBezTo>
                <a:cubicBezTo>
                  <a:pt x="823" y="14228"/>
                  <a:pt x="823" y="14228"/>
                  <a:pt x="823" y="14228"/>
                </a:cubicBezTo>
                <a:cubicBezTo>
                  <a:pt x="0" y="14228"/>
                  <a:pt x="0" y="14228"/>
                  <a:pt x="0" y="14228"/>
                </a:cubicBezTo>
                <a:cubicBezTo>
                  <a:pt x="0" y="15780"/>
                  <a:pt x="0" y="15780"/>
                  <a:pt x="0" y="15780"/>
                </a:cubicBezTo>
                <a:cubicBezTo>
                  <a:pt x="0" y="20242"/>
                  <a:pt x="545" y="21600"/>
                  <a:pt x="1120" y="21600"/>
                </a:cubicBezTo>
                <a:cubicBezTo>
                  <a:pt x="1675" y="21600"/>
                  <a:pt x="2141" y="20371"/>
                  <a:pt x="2211" y="17008"/>
                </a:cubicBezTo>
                <a:cubicBezTo>
                  <a:pt x="2250" y="15262"/>
                  <a:pt x="2220" y="14098"/>
                  <a:pt x="2211" y="13710"/>
                </a:cubicBezTo>
                <a:cubicBezTo>
                  <a:pt x="2082" y="9442"/>
                  <a:pt x="912" y="8213"/>
                  <a:pt x="823" y="5885"/>
                </a:cubicBezTo>
                <a:moveTo>
                  <a:pt x="10864" y="5885"/>
                </a:moveTo>
                <a:cubicBezTo>
                  <a:pt x="10845" y="5497"/>
                  <a:pt x="10855" y="5109"/>
                  <a:pt x="10864" y="4850"/>
                </a:cubicBezTo>
                <a:cubicBezTo>
                  <a:pt x="10884" y="4204"/>
                  <a:pt x="10944" y="3492"/>
                  <a:pt x="11142" y="3492"/>
                </a:cubicBezTo>
                <a:cubicBezTo>
                  <a:pt x="11320" y="3492"/>
                  <a:pt x="11420" y="4268"/>
                  <a:pt x="11420" y="5303"/>
                </a:cubicBezTo>
                <a:cubicBezTo>
                  <a:pt x="11420" y="6596"/>
                  <a:pt x="11420" y="6596"/>
                  <a:pt x="11420" y="6596"/>
                </a:cubicBezTo>
                <a:cubicBezTo>
                  <a:pt x="12183" y="6596"/>
                  <a:pt x="12183" y="6596"/>
                  <a:pt x="12183" y="6596"/>
                </a:cubicBezTo>
                <a:cubicBezTo>
                  <a:pt x="12183" y="5174"/>
                  <a:pt x="12183" y="5174"/>
                  <a:pt x="12183" y="5174"/>
                </a:cubicBezTo>
                <a:cubicBezTo>
                  <a:pt x="12183" y="841"/>
                  <a:pt x="11588" y="129"/>
                  <a:pt x="11152" y="129"/>
                </a:cubicBezTo>
                <a:cubicBezTo>
                  <a:pt x="10607" y="129"/>
                  <a:pt x="10171" y="1293"/>
                  <a:pt x="10081" y="4592"/>
                </a:cubicBezTo>
                <a:cubicBezTo>
                  <a:pt x="10061" y="5432"/>
                  <a:pt x="10061" y="6273"/>
                  <a:pt x="10091" y="7243"/>
                </a:cubicBezTo>
                <a:cubicBezTo>
                  <a:pt x="10230" y="11317"/>
                  <a:pt x="11311" y="12481"/>
                  <a:pt x="11469" y="15068"/>
                </a:cubicBezTo>
                <a:cubicBezTo>
                  <a:pt x="11499" y="15586"/>
                  <a:pt x="11489" y="16168"/>
                  <a:pt x="11479" y="16556"/>
                </a:cubicBezTo>
                <a:cubicBezTo>
                  <a:pt x="11449" y="17267"/>
                  <a:pt x="11380" y="17914"/>
                  <a:pt x="11182" y="17914"/>
                </a:cubicBezTo>
                <a:cubicBezTo>
                  <a:pt x="10983" y="17914"/>
                  <a:pt x="10874" y="17202"/>
                  <a:pt x="10874" y="16103"/>
                </a:cubicBezTo>
                <a:cubicBezTo>
                  <a:pt x="10874" y="14163"/>
                  <a:pt x="10874" y="14163"/>
                  <a:pt x="10874" y="14163"/>
                </a:cubicBezTo>
                <a:cubicBezTo>
                  <a:pt x="10052" y="14163"/>
                  <a:pt x="10052" y="14163"/>
                  <a:pt x="10052" y="14163"/>
                </a:cubicBezTo>
                <a:cubicBezTo>
                  <a:pt x="10052" y="15715"/>
                  <a:pt x="10052" y="15715"/>
                  <a:pt x="10052" y="15715"/>
                </a:cubicBezTo>
                <a:cubicBezTo>
                  <a:pt x="10052" y="20177"/>
                  <a:pt x="10587" y="21471"/>
                  <a:pt x="11162" y="21471"/>
                </a:cubicBezTo>
                <a:cubicBezTo>
                  <a:pt x="11717" y="21471"/>
                  <a:pt x="12173" y="20242"/>
                  <a:pt x="12242" y="16944"/>
                </a:cubicBezTo>
                <a:cubicBezTo>
                  <a:pt x="12272" y="15198"/>
                  <a:pt x="12252" y="14098"/>
                  <a:pt x="12232" y="13646"/>
                </a:cubicBezTo>
                <a:cubicBezTo>
                  <a:pt x="12104" y="9507"/>
                  <a:pt x="10954" y="8213"/>
                  <a:pt x="10864" y="5885"/>
                </a:cubicBezTo>
                <a:moveTo>
                  <a:pt x="17873" y="16879"/>
                </a:moveTo>
                <a:cubicBezTo>
                  <a:pt x="17149" y="647"/>
                  <a:pt x="17149" y="647"/>
                  <a:pt x="17149" y="647"/>
                </a:cubicBezTo>
                <a:cubicBezTo>
                  <a:pt x="15999" y="647"/>
                  <a:pt x="15999" y="647"/>
                  <a:pt x="15999" y="647"/>
                </a:cubicBezTo>
                <a:cubicBezTo>
                  <a:pt x="15999" y="20630"/>
                  <a:pt x="15999" y="20630"/>
                  <a:pt x="15999" y="20630"/>
                </a:cubicBezTo>
                <a:cubicBezTo>
                  <a:pt x="16763" y="20630"/>
                  <a:pt x="16763" y="20630"/>
                  <a:pt x="16763" y="20630"/>
                </a:cubicBezTo>
                <a:cubicBezTo>
                  <a:pt x="16713" y="3880"/>
                  <a:pt x="16713" y="3880"/>
                  <a:pt x="16713" y="3880"/>
                </a:cubicBezTo>
                <a:cubicBezTo>
                  <a:pt x="17496" y="20630"/>
                  <a:pt x="17496" y="20630"/>
                  <a:pt x="17496" y="20630"/>
                </a:cubicBezTo>
                <a:cubicBezTo>
                  <a:pt x="18596" y="20630"/>
                  <a:pt x="18596" y="20630"/>
                  <a:pt x="18596" y="20630"/>
                </a:cubicBezTo>
                <a:cubicBezTo>
                  <a:pt x="18596" y="647"/>
                  <a:pt x="18596" y="647"/>
                  <a:pt x="18596" y="647"/>
                </a:cubicBezTo>
                <a:cubicBezTo>
                  <a:pt x="17833" y="647"/>
                  <a:pt x="17833" y="647"/>
                  <a:pt x="17833" y="647"/>
                </a:cubicBezTo>
                <a:lnTo>
                  <a:pt x="17873" y="16879"/>
                </a:lnTo>
                <a:close/>
                <a:moveTo>
                  <a:pt x="3301" y="647"/>
                </a:moveTo>
                <a:cubicBezTo>
                  <a:pt x="2736" y="20824"/>
                  <a:pt x="2736" y="20824"/>
                  <a:pt x="2736" y="20824"/>
                </a:cubicBezTo>
                <a:cubicBezTo>
                  <a:pt x="3569" y="20824"/>
                  <a:pt x="3569" y="20824"/>
                  <a:pt x="3569" y="20824"/>
                </a:cubicBezTo>
                <a:cubicBezTo>
                  <a:pt x="3995" y="2134"/>
                  <a:pt x="3995" y="2134"/>
                  <a:pt x="3995" y="2134"/>
                </a:cubicBezTo>
                <a:cubicBezTo>
                  <a:pt x="4421" y="20824"/>
                  <a:pt x="4421" y="20824"/>
                  <a:pt x="4421" y="20824"/>
                </a:cubicBezTo>
                <a:cubicBezTo>
                  <a:pt x="5244" y="20824"/>
                  <a:pt x="5244" y="20824"/>
                  <a:pt x="5244" y="20824"/>
                </a:cubicBezTo>
                <a:cubicBezTo>
                  <a:pt x="4679" y="647"/>
                  <a:pt x="4679" y="647"/>
                  <a:pt x="4679" y="647"/>
                </a:cubicBezTo>
                <a:lnTo>
                  <a:pt x="3301" y="647"/>
                </a:lnTo>
                <a:close/>
                <a:moveTo>
                  <a:pt x="7970" y="647"/>
                </a:moveTo>
                <a:cubicBezTo>
                  <a:pt x="7583" y="16426"/>
                  <a:pt x="7583" y="16426"/>
                  <a:pt x="7583" y="16426"/>
                </a:cubicBezTo>
                <a:cubicBezTo>
                  <a:pt x="7187" y="647"/>
                  <a:pt x="7187" y="647"/>
                  <a:pt x="7187" y="647"/>
                </a:cubicBezTo>
                <a:cubicBezTo>
                  <a:pt x="5928" y="647"/>
                  <a:pt x="5928" y="647"/>
                  <a:pt x="5928" y="647"/>
                </a:cubicBezTo>
                <a:cubicBezTo>
                  <a:pt x="5868" y="20824"/>
                  <a:pt x="5868" y="20824"/>
                  <a:pt x="5868" y="20824"/>
                </a:cubicBezTo>
                <a:cubicBezTo>
                  <a:pt x="6632" y="20824"/>
                  <a:pt x="6632" y="20824"/>
                  <a:pt x="6632" y="20824"/>
                </a:cubicBezTo>
                <a:cubicBezTo>
                  <a:pt x="6651" y="2134"/>
                  <a:pt x="6651" y="2134"/>
                  <a:pt x="6651" y="2134"/>
                </a:cubicBezTo>
                <a:cubicBezTo>
                  <a:pt x="7187" y="20824"/>
                  <a:pt x="7187" y="20824"/>
                  <a:pt x="7187" y="20824"/>
                </a:cubicBezTo>
                <a:cubicBezTo>
                  <a:pt x="7970" y="20824"/>
                  <a:pt x="7970" y="20824"/>
                  <a:pt x="7970" y="20824"/>
                </a:cubicBezTo>
                <a:cubicBezTo>
                  <a:pt x="8505" y="2134"/>
                  <a:pt x="8505" y="2134"/>
                  <a:pt x="8505" y="2134"/>
                </a:cubicBezTo>
                <a:cubicBezTo>
                  <a:pt x="8525" y="20824"/>
                  <a:pt x="8525" y="20824"/>
                  <a:pt x="8525" y="20824"/>
                </a:cubicBezTo>
                <a:cubicBezTo>
                  <a:pt x="9298" y="20824"/>
                  <a:pt x="9298" y="20824"/>
                  <a:pt x="9298" y="20824"/>
                </a:cubicBezTo>
                <a:cubicBezTo>
                  <a:pt x="9229" y="647"/>
                  <a:pt x="9229" y="647"/>
                  <a:pt x="9229" y="647"/>
                </a:cubicBezTo>
                <a:lnTo>
                  <a:pt x="7970" y="647"/>
                </a:lnTo>
                <a:close/>
                <a:moveTo>
                  <a:pt x="15147" y="647"/>
                </a:moveTo>
                <a:cubicBezTo>
                  <a:pt x="14364" y="647"/>
                  <a:pt x="14364" y="647"/>
                  <a:pt x="14364" y="647"/>
                </a:cubicBezTo>
                <a:cubicBezTo>
                  <a:pt x="14364" y="15586"/>
                  <a:pt x="14364" y="15586"/>
                  <a:pt x="14364" y="15586"/>
                </a:cubicBezTo>
                <a:cubicBezTo>
                  <a:pt x="14364" y="15844"/>
                  <a:pt x="14364" y="16103"/>
                  <a:pt x="14354" y="16362"/>
                </a:cubicBezTo>
                <a:cubicBezTo>
                  <a:pt x="14344" y="16814"/>
                  <a:pt x="14274" y="17784"/>
                  <a:pt x="14056" y="17784"/>
                </a:cubicBezTo>
                <a:cubicBezTo>
                  <a:pt x="13848" y="17784"/>
                  <a:pt x="13779" y="16814"/>
                  <a:pt x="13769" y="16362"/>
                </a:cubicBezTo>
                <a:cubicBezTo>
                  <a:pt x="13759" y="16103"/>
                  <a:pt x="13759" y="15844"/>
                  <a:pt x="13759" y="15586"/>
                </a:cubicBezTo>
                <a:cubicBezTo>
                  <a:pt x="13759" y="647"/>
                  <a:pt x="13759" y="647"/>
                  <a:pt x="13759" y="647"/>
                </a:cubicBezTo>
                <a:cubicBezTo>
                  <a:pt x="12976" y="647"/>
                  <a:pt x="12976" y="647"/>
                  <a:pt x="12976" y="647"/>
                </a:cubicBezTo>
                <a:cubicBezTo>
                  <a:pt x="12976" y="15133"/>
                  <a:pt x="12976" y="15133"/>
                  <a:pt x="12976" y="15133"/>
                </a:cubicBezTo>
                <a:cubicBezTo>
                  <a:pt x="12976" y="15456"/>
                  <a:pt x="12976" y="16232"/>
                  <a:pt x="12986" y="16426"/>
                </a:cubicBezTo>
                <a:cubicBezTo>
                  <a:pt x="13035" y="20177"/>
                  <a:pt x="13491" y="21406"/>
                  <a:pt x="14056" y="21406"/>
                </a:cubicBezTo>
                <a:cubicBezTo>
                  <a:pt x="14631" y="21406"/>
                  <a:pt x="15087" y="20177"/>
                  <a:pt x="15137" y="16426"/>
                </a:cubicBezTo>
                <a:cubicBezTo>
                  <a:pt x="15147" y="16232"/>
                  <a:pt x="15147" y="15456"/>
                  <a:pt x="15147" y="15133"/>
                </a:cubicBezTo>
                <a:lnTo>
                  <a:pt x="15147" y="647"/>
                </a:lnTo>
                <a:close/>
                <a:moveTo>
                  <a:pt x="20510" y="9507"/>
                </a:moveTo>
                <a:cubicBezTo>
                  <a:pt x="20510" y="12417"/>
                  <a:pt x="20510" y="12417"/>
                  <a:pt x="20510" y="12417"/>
                </a:cubicBezTo>
                <a:cubicBezTo>
                  <a:pt x="20827" y="12417"/>
                  <a:pt x="20827" y="12417"/>
                  <a:pt x="20827" y="12417"/>
                </a:cubicBezTo>
                <a:cubicBezTo>
                  <a:pt x="20827" y="15327"/>
                  <a:pt x="20827" y="15327"/>
                  <a:pt x="20827" y="15327"/>
                </a:cubicBezTo>
                <a:cubicBezTo>
                  <a:pt x="20827" y="15586"/>
                  <a:pt x="20827" y="15909"/>
                  <a:pt x="20817" y="16103"/>
                </a:cubicBezTo>
                <a:cubicBezTo>
                  <a:pt x="20807" y="16685"/>
                  <a:pt x="20728" y="17590"/>
                  <a:pt x="20500" y="17590"/>
                </a:cubicBezTo>
                <a:cubicBezTo>
                  <a:pt x="20272" y="17590"/>
                  <a:pt x="20202" y="16685"/>
                  <a:pt x="20182" y="16103"/>
                </a:cubicBezTo>
                <a:cubicBezTo>
                  <a:pt x="20182" y="15909"/>
                  <a:pt x="20173" y="15586"/>
                  <a:pt x="20173" y="15327"/>
                </a:cubicBezTo>
                <a:cubicBezTo>
                  <a:pt x="20173" y="6144"/>
                  <a:pt x="20173" y="6144"/>
                  <a:pt x="20173" y="6144"/>
                </a:cubicBezTo>
                <a:cubicBezTo>
                  <a:pt x="20173" y="5820"/>
                  <a:pt x="20182" y="5497"/>
                  <a:pt x="20192" y="5174"/>
                </a:cubicBezTo>
                <a:cubicBezTo>
                  <a:pt x="20202" y="4721"/>
                  <a:pt x="20272" y="3751"/>
                  <a:pt x="20500" y="3751"/>
                </a:cubicBezTo>
                <a:cubicBezTo>
                  <a:pt x="20738" y="3751"/>
                  <a:pt x="20797" y="4786"/>
                  <a:pt x="20807" y="5174"/>
                </a:cubicBezTo>
                <a:cubicBezTo>
                  <a:pt x="20817" y="5497"/>
                  <a:pt x="20817" y="5950"/>
                  <a:pt x="20817" y="5950"/>
                </a:cubicBezTo>
                <a:cubicBezTo>
                  <a:pt x="20817" y="7114"/>
                  <a:pt x="20817" y="7114"/>
                  <a:pt x="20817" y="7114"/>
                </a:cubicBezTo>
                <a:cubicBezTo>
                  <a:pt x="21590" y="7114"/>
                  <a:pt x="21590" y="7114"/>
                  <a:pt x="21590" y="7114"/>
                </a:cubicBezTo>
                <a:cubicBezTo>
                  <a:pt x="21590" y="6402"/>
                  <a:pt x="21590" y="6402"/>
                  <a:pt x="21590" y="6402"/>
                </a:cubicBezTo>
                <a:cubicBezTo>
                  <a:pt x="21590" y="6402"/>
                  <a:pt x="21600" y="5756"/>
                  <a:pt x="21590" y="5109"/>
                </a:cubicBezTo>
                <a:cubicBezTo>
                  <a:pt x="21531" y="1293"/>
                  <a:pt x="21055" y="129"/>
                  <a:pt x="20500" y="129"/>
                </a:cubicBezTo>
                <a:cubicBezTo>
                  <a:pt x="19954" y="129"/>
                  <a:pt x="19489" y="1358"/>
                  <a:pt x="19419" y="5109"/>
                </a:cubicBezTo>
                <a:cubicBezTo>
                  <a:pt x="19409" y="5432"/>
                  <a:pt x="19409" y="6079"/>
                  <a:pt x="19409" y="6402"/>
                </a:cubicBezTo>
                <a:cubicBezTo>
                  <a:pt x="19409" y="14874"/>
                  <a:pt x="19409" y="14874"/>
                  <a:pt x="19409" y="14874"/>
                </a:cubicBezTo>
                <a:cubicBezTo>
                  <a:pt x="19409" y="15262"/>
                  <a:pt x="19409" y="15586"/>
                  <a:pt x="19419" y="16232"/>
                </a:cubicBezTo>
                <a:cubicBezTo>
                  <a:pt x="19469" y="19919"/>
                  <a:pt x="19954" y="21212"/>
                  <a:pt x="20500" y="21212"/>
                </a:cubicBezTo>
                <a:cubicBezTo>
                  <a:pt x="21055" y="21212"/>
                  <a:pt x="21541" y="19919"/>
                  <a:pt x="21590" y="16232"/>
                </a:cubicBezTo>
                <a:cubicBezTo>
                  <a:pt x="21600" y="15586"/>
                  <a:pt x="21600" y="15262"/>
                  <a:pt x="21600" y="14874"/>
                </a:cubicBezTo>
                <a:cubicBezTo>
                  <a:pt x="21600" y="9507"/>
                  <a:pt x="21600" y="9507"/>
                  <a:pt x="21600" y="9507"/>
                </a:cubicBezTo>
                <a:lnTo>
                  <a:pt x="20510" y="9507"/>
                </a:lnTo>
                <a:close/>
              </a:path>
            </a:pathLst>
          </a:custGeom>
          <a:solidFill>
            <a:srgbClr val="FFFFFF"/>
          </a:solidFill>
          <a:ln w="12700">
            <a:miter lim="400000"/>
          </a:ln>
        </p:spPr>
        <p:txBody>
          <a:bodyPr lIns="45719" rIns="45719"/>
          <a:lstStyle/>
          <a:p>
            <a:endParaRPr/>
          </a:p>
        </p:txBody>
      </p:sp>
      <p:sp>
        <p:nvSpPr>
          <p:cNvPr id="4" name="Title Text"/>
          <p:cNvSpPr txBox="1">
            <a:spLocks noGrp="1"/>
          </p:cNvSpPr>
          <p:nvPr>
            <p:ph type="title"/>
          </p:nvPr>
        </p:nvSpPr>
        <p:spPr>
          <a:xfrm>
            <a:off x="494665" y="92074"/>
            <a:ext cx="8903970" cy="15081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lstStyle/>
          <a:p>
            <a:r>
              <a:t>Title Text</a:t>
            </a:r>
          </a:p>
        </p:txBody>
      </p:sp>
      <p:sp>
        <p:nvSpPr>
          <p:cNvPr id="5" name="Body Level One…"/>
          <p:cNvSpPr txBox="1">
            <a:spLocks noGrp="1"/>
          </p:cNvSpPr>
          <p:nvPr>
            <p:ph type="body" idx="1"/>
          </p:nvPr>
        </p:nvSpPr>
        <p:spPr>
          <a:xfrm>
            <a:off x="494665" y="1600200"/>
            <a:ext cx="8903970" cy="52578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lstStyle/>
          <a:p>
            <a:r>
              <a:t>Body Level One</a:t>
            </a:r>
          </a:p>
          <a:p>
            <a:pPr lvl="1"/>
            <a:r>
              <a:t>Body Level Two</a:t>
            </a:r>
          </a:p>
          <a:p>
            <a:pPr lvl="2"/>
            <a:r>
              <a:t>Body Level Three</a:t>
            </a:r>
          </a:p>
          <a:p>
            <a:pPr lvl="3"/>
            <a:r>
              <a:t>Body Level Four</a:t>
            </a:r>
          </a:p>
          <a:p>
            <a:pPr lvl="4"/>
            <a:r>
              <a:t>Body Level Five</a:t>
            </a:r>
          </a:p>
        </p:txBody>
      </p:sp>
      <p:sp>
        <p:nvSpPr>
          <p:cNvPr id="6" name="Slide Number"/>
          <p:cNvSpPr txBox="1">
            <a:spLocks noGrp="1"/>
          </p:cNvSpPr>
          <p:nvPr>
            <p:ph type="sldNum" sz="quarter" idx="2"/>
          </p:nvPr>
        </p:nvSpPr>
        <p:spPr>
          <a:xfrm>
            <a:off x="4781761" y="6172200"/>
            <a:ext cx="2308438" cy="368301"/>
          </a:xfrm>
          <a:prstGeom prst="rect">
            <a:avLst/>
          </a:prstGeom>
          <a:ln w="12700">
            <a:miter lim="400000"/>
          </a:ln>
        </p:spPr>
        <p:txBody>
          <a:bodyPr wrap="none" lIns="45719" rIns="45719" anchor="ctr">
            <a:spAutoFit/>
          </a:bodyPr>
          <a:lstStyle>
            <a:lvl1pPr algn="r">
              <a:defRPr sz="1200"/>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ransition spd="med"/>
  <p:txStyles>
    <p:titleStyle>
      <a:lvl1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1pPr>
      <a:lvl2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2pPr>
      <a:lvl3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3pPr>
      <a:lvl4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4pPr>
      <a:lvl5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5pPr>
      <a:lvl6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6pPr>
      <a:lvl7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7pPr>
      <a:lvl8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8pPr>
      <a:lvl9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9pPr>
    </p:titleStyle>
    <p:body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Calibri"/>
          <a:ea typeface="Calibri"/>
          <a:cs typeface="Calibri"/>
          <a:sym typeface="Calibr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Calibri"/>
          <a:ea typeface="Calibri"/>
          <a:cs typeface="Calibri"/>
          <a:sym typeface="Calibr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Calibri"/>
          <a:ea typeface="Calibri"/>
          <a:cs typeface="Calibri"/>
          <a:sym typeface="Calibr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Calibri"/>
          <a:ea typeface="Calibri"/>
          <a:cs typeface="Calibri"/>
          <a:sym typeface="Calibr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Calibri"/>
          <a:ea typeface="Calibri"/>
          <a:cs typeface="Calibri"/>
          <a:sym typeface="Calibr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Calibri"/>
          <a:ea typeface="Calibri"/>
          <a:cs typeface="Calibri"/>
          <a:sym typeface="Calibr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Calibri"/>
          <a:ea typeface="Calibri"/>
          <a:cs typeface="Calibri"/>
          <a:sym typeface="Calibr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Calibri"/>
          <a:ea typeface="Calibri"/>
          <a:cs typeface="Calibri"/>
          <a:sym typeface="Calibr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Calibri"/>
          <a:ea typeface="Calibri"/>
          <a:cs typeface="Calibri"/>
          <a:sym typeface="Calibri"/>
        </a:defRPr>
      </a:lvl9pPr>
    </p:bodyStyle>
    <p:otherStyle>
      <a:lvl1pPr marL="0" marR="0" indent="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1pPr>
      <a:lvl2pPr marL="0" marR="0" indent="4572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2pPr>
      <a:lvl3pPr marL="0" marR="0" indent="9144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3pPr>
      <a:lvl4pPr marL="0" marR="0" indent="13716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4pPr>
      <a:lvl5pPr marL="0" marR="0" indent="18288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5pPr>
      <a:lvl6pPr marL="0" marR="0" indent="22860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6pPr>
      <a:lvl7pPr marL="0" marR="0" indent="27432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7pPr>
      <a:lvl8pPr marL="0" marR="0" indent="32004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8pPr>
      <a:lvl9pPr marL="0" marR="0" indent="36576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drive.google.com/file/d/1MycIFl7IsAZ4APW8_c-cwV0aXPlzeidv/view?usp=drive_link" TargetMode="External"/><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hyperlink" Target="https://drive.google.com/file/d/1ers7gFo1S-6AdAw1Jj7X0fPTUK0Zvzat/view?usp=drive_link" TargetMode="External"/><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직사각형 133"/>
          <p:cNvSpPr txBox="1"/>
          <p:nvPr/>
        </p:nvSpPr>
        <p:spPr>
          <a:xfrm>
            <a:off x="945929" y="2438563"/>
            <a:ext cx="8187561" cy="12040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a:defRPr sz="2800">
                <a:solidFill>
                  <a:srgbClr val="FFFFFF"/>
                </a:solidFill>
                <a:latin typeface="Times New Roman"/>
                <a:ea typeface="Times New Roman"/>
                <a:cs typeface="Times New Roman"/>
                <a:sym typeface="Times New Roman"/>
              </a:defRPr>
            </a:pPr>
            <a:r>
              <a:t>STORE SALES AND PROFIT ANALYSIS</a:t>
            </a:r>
          </a:p>
          <a:p>
            <a:pPr>
              <a:defRPr sz="2800">
                <a:solidFill>
                  <a:srgbClr val="FFFFFF"/>
                </a:solidFill>
                <a:latin typeface="Times New Roman"/>
                <a:ea typeface="Times New Roman"/>
                <a:cs typeface="Times New Roman"/>
                <a:sym typeface="Times New Roman"/>
              </a:defRPr>
            </a:pPr>
            <a:endParaRPr/>
          </a:p>
        </p:txBody>
      </p:sp>
      <p:sp>
        <p:nvSpPr>
          <p:cNvPr id="69" name="직선 연결선 11"/>
          <p:cNvSpPr/>
          <p:nvPr/>
        </p:nvSpPr>
        <p:spPr>
          <a:xfrm flipH="1">
            <a:off x="645880" y="2209686"/>
            <a:ext cx="10512" cy="2877756"/>
          </a:xfrm>
          <a:prstGeom prst="line">
            <a:avLst/>
          </a:prstGeom>
          <a:ln w="38100">
            <a:solidFill>
              <a:srgbClr val="FFFFFF"/>
            </a:solidFill>
            <a:miter/>
          </a:ln>
        </p:spPr>
        <p:txBody>
          <a:bodyPr lIns="45719" rIns="45719"/>
          <a:lstStyle/>
          <a:p>
            <a:endParaRPr/>
          </a:p>
        </p:txBody>
      </p:sp>
      <p:sp>
        <p:nvSpPr>
          <p:cNvPr id="70" name="직사각형 133"/>
          <p:cNvSpPr txBox="1"/>
          <p:nvPr/>
        </p:nvSpPr>
        <p:spPr>
          <a:xfrm>
            <a:off x="945929" y="2960492"/>
            <a:ext cx="5479713" cy="203391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p>
            <a:pPr>
              <a:defRPr sz="2000">
                <a:solidFill>
                  <a:srgbClr val="FFFFFF"/>
                </a:solidFill>
                <a:latin typeface="Times New Roman"/>
                <a:ea typeface="Times New Roman"/>
                <a:cs typeface="Times New Roman"/>
                <a:sym typeface="Times New Roman"/>
              </a:defRPr>
            </a:pPr>
            <a:endParaRPr/>
          </a:p>
          <a:p>
            <a:pPr algn="just">
              <a:defRPr sz="2000">
                <a:solidFill>
                  <a:srgbClr val="FFFFFF"/>
                </a:solidFill>
                <a:latin typeface="Times New Roman"/>
                <a:ea typeface="Times New Roman"/>
                <a:cs typeface="Times New Roman"/>
                <a:sym typeface="Times New Roman"/>
              </a:defRPr>
            </a:pPr>
            <a:r>
              <a:t>Team Members </a:t>
            </a:r>
          </a:p>
          <a:p>
            <a:pPr algn="just">
              <a:defRPr sz="2000">
                <a:solidFill>
                  <a:srgbClr val="FFFFFF"/>
                </a:solidFill>
                <a:latin typeface="Times New Roman"/>
                <a:ea typeface="Times New Roman"/>
                <a:cs typeface="Times New Roman"/>
                <a:sym typeface="Times New Roman"/>
              </a:defRPr>
            </a:pPr>
            <a:endParaRPr/>
          </a:p>
          <a:p>
            <a:pPr algn="just">
              <a:defRPr sz="2000">
                <a:solidFill>
                  <a:srgbClr val="FFFFFF"/>
                </a:solidFill>
                <a:latin typeface="Times New Roman"/>
                <a:ea typeface="Times New Roman"/>
                <a:cs typeface="Times New Roman"/>
                <a:sym typeface="Times New Roman"/>
              </a:defRPr>
            </a:pPr>
            <a:r>
              <a:t>Ronit V Raghavan       [1DB21CI075]</a:t>
            </a:r>
          </a:p>
          <a:p>
            <a:pPr algn="just">
              <a:defRPr sz="2000">
                <a:solidFill>
                  <a:srgbClr val="FFFFFF"/>
                </a:solidFill>
                <a:latin typeface="Times New Roman"/>
                <a:ea typeface="Times New Roman"/>
                <a:cs typeface="Times New Roman"/>
                <a:sym typeface="Times New Roman"/>
              </a:defRPr>
            </a:pPr>
            <a:r>
              <a:t>Yuvaraj B L                 [1DB21CI110]      </a:t>
            </a:r>
          </a:p>
          <a:p>
            <a:pPr algn="just">
              <a:defRPr sz="2000">
                <a:solidFill>
                  <a:srgbClr val="FFFFFF"/>
                </a:solidFill>
                <a:latin typeface="Times New Roman"/>
                <a:ea typeface="Times New Roman"/>
                <a:cs typeface="Times New Roman"/>
                <a:sym typeface="Times New Roman"/>
              </a:defRPr>
            </a:pPr>
            <a:r>
              <a:t>Haneesh Kumar D       [1DB21EC050]</a:t>
            </a:r>
          </a:p>
          <a:p>
            <a:pPr algn="just">
              <a:defRPr sz="2000">
                <a:solidFill>
                  <a:srgbClr val="FFFFFF"/>
                </a:solidFill>
                <a:latin typeface="Times New Roman"/>
                <a:ea typeface="Times New Roman"/>
                <a:cs typeface="Times New Roman"/>
                <a:sym typeface="Times New Roman"/>
              </a:defRPr>
            </a:pPr>
            <a:r>
              <a:t>Gowtham N                 [1DB21EC047]</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직사각형 133"/>
          <p:cNvSpPr txBox="1"/>
          <p:nvPr/>
        </p:nvSpPr>
        <p:spPr>
          <a:xfrm>
            <a:off x="558799" y="928961"/>
            <a:ext cx="7899925" cy="838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2800">
                <a:solidFill>
                  <a:srgbClr val="FFFFFF"/>
                </a:solidFill>
                <a:latin typeface="Times New Roman"/>
                <a:ea typeface="Times New Roman"/>
                <a:cs typeface="Times New Roman"/>
                <a:sym typeface="Times New Roman"/>
              </a:defRPr>
            </a:lvl1pPr>
          </a:lstStyle>
          <a:p>
            <a:r>
              <a:t>STORE SALES AND PROFIT ANALYSIS</a:t>
            </a:r>
          </a:p>
        </p:txBody>
      </p:sp>
      <p:grpSp>
        <p:nvGrpSpPr>
          <p:cNvPr id="77" name="Group 1"/>
          <p:cNvGrpSpPr/>
          <p:nvPr/>
        </p:nvGrpSpPr>
        <p:grpSpPr>
          <a:xfrm>
            <a:off x="571499" y="2293017"/>
            <a:ext cx="4379914" cy="279401"/>
            <a:chOff x="0" y="0"/>
            <a:chExt cx="4379913" cy="279400"/>
          </a:xfrm>
        </p:grpSpPr>
        <p:sp>
          <p:nvSpPr>
            <p:cNvPr id="75" name="직사각형 37"/>
            <p:cNvSpPr txBox="1"/>
            <p:nvPr/>
          </p:nvSpPr>
          <p:spPr>
            <a:xfrm>
              <a:off x="182880" y="-1"/>
              <a:ext cx="4197034" cy="2794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a:spcBef>
                  <a:spcPts val="600"/>
                </a:spcBef>
                <a:defRPr>
                  <a:solidFill>
                    <a:srgbClr val="404040"/>
                  </a:solidFill>
                  <a:latin typeface="SamsungOne 700"/>
                  <a:ea typeface="SamsungOne 700"/>
                  <a:cs typeface="SamsungOne 700"/>
                  <a:sym typeface="SamsungOne 700"/>
                </a:defRPr>
              </a:lvl1pPr>
            </a:lstStyle>
            <a:p>
              <a:r>
                <a:t>UNIT 1. Problem Statement</a:t>
              </a:r>
            </a:p>
          </p:txBody>
        </p:sp>
        <p:sp>
          <p:nvSpPr>
            <p:cNvPr id="76" name="직사각형 38"/>
            <p:cNvSpPr/>
            <p:nvPr/>
          </p:nvSpPr>
          <p:spPr>
            <a:xfrm>
              <a:off x="0" y="27"/>
              <a:ext cx="36001" cy="252001"/>
            </a:xfrm>
            <a:prstGeom prst="rect">
              <a:avLst/>
            </a:prstGeom>
            <a:solidFill>
              <a:srgbClr val="193EB0"/>
            </a:solidFill>
            <a:ln w="12700" cap="flat">
              <a:noFill/>
              <a:miter lim="400000"/>
            </a:ln>
            <a:effectLst/>
          </p:spPr>
          <p:txBody>
            <a:bodyPr wrap="square" lIns="45719" tIns="45719" rIns="45719" bIns="45719" numCol="1" anchor="ctr">
              <a:noAutofit/>
            </a:bodyPr>
            <a:lstStyle/>
            <a:p>
              <a:pPr algn="ctr">
                <a:defRPr sz="2800">
                  <a:solidFill>
                    <a:srgbClr val="FFFFFF"/>
                  </a:solidFill>
                </a:defRPr>
              </a:pPr>
              <a:endParaRPr/>
            </a:p>
          </p:txBody>
        </p:sp>
      </p:grpSp>
      <p:sp>
        <p:nvSpPr>
          <p:cNvPr id="78" name="Run Analysis on a Store’s Sale and Profits based on the given Data set and obtain the requirements"/>
          <p:cNvSpPr txBox="1"/>
          <p:nvPr/>
        </p:nvSpPr>
        <p:spPr>
          <a:xfrm>
            <a:off x="696578" y="2794897"/>
            <a:ext cx="8539600" cy="6151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lvl1pPr marL="180472" indent="-180472">
              <a:buSzPct val="100000"/>
              <a:buChar char="•"/>
              <a:defRPr>
                <a:latin typeface="Times New Roman"/>
                <a:ea typeface="Times New Roman"/>
                <a:cs typeface="Times New Roman"/>
                <a:sym typeface="Times New Roman"/>
              </a:defRPr>
            </a:lvl1pPr>
          </a:lstStyle>
          <a:p>
            <a:r>
              <a:t>Run Analysis on a Store’s Sale and Profits based on the given Data set and obtain the requirements</a:t>
            </a:r>
          </a:p>
        </p:txBody>
      </p:sp>
      <p:sp>
        <p:nvSpPr>
          <p:cNvPr id="79" name="Click Here to Access the Problem statement">
            <a:hlinkClick r:id="rId3"/>
          </p:cNvPr>
          <p:cNvSpPr txBox="1"/>
          <p:nvPr/>
        </p:nvSpPr>
        <p:spPr>
          <a:xfrm>
            <a:off x="704245" y="3393993"/>
            <a:ext cx="5593203" cy="3693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lvl1pPr marL="180472" indent="-180472">
              <a:buSzPct val="100000"/>
              <a:buChar char="•"/>
              <a:defRPr>
                <a:latin typeface="Times New Roman"/>
                <a:ea typeface="Times New Roman"/>
                <a:cs typeface="Times New Roman"/>
                <a:sym typeface="Times New Roman"/>
              </a:defRPr>
            </a:lvl1pPr>
          </a:lstStyle>
          <a:p>
            <a:r>
              <a:rPr u="sng" dirty="0"/>
              <a:t>Click Here to Access the Problem statement</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직사각형 133"/>
          <p:cNvSpPr txBox="1"/>
          <p:nvPr/>
        </p:nvSpPr>
        <p:spPr>
          <a:xfrm>
            <a:off x="558799" y="928961"/>
            <a:ext cx="7899925" cy="838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2800">
                <a:solidFill>
                  <a:srgbClr val="FFFFFF"/>
                </a:solidFill>
                <a:latin typeface="Times New Roman"/>
                <a:ea typeface="Times New Roman"/>
                <a:cs typeface="Times New Roman"/>
                <a:sym typeface="Times New Roman"/>
              </a:defRPr>
            </a:lvl1pPr>
          </a:lstStyle>
          <a:p>
            <a:r>
              <a:t>STORE SALES AND PROFIT ANALYSIS</a:t>
            </a:r>
          </a:p>
        </p:txBody>
      </p:sp>
      <p:grpSp>
        <p:nvGrpSpPr>
          <p:cNvPr id="86" name="Group 1"/>
          <p:cNvGrpSpPr/>
          <p:nvPr/>
        </p:nvGrpSpPr>
        <p:grpSpPr>
          <a:xfrm>
            <a:off x="558798" y="2295312"/>
            <a:ext cx="4379914" cy="279401"/>
            <a:chOff x="0" y="0"/>
            <a:chExt cx="4379913" cy="279400"/>
          </a:xfrm>
        </p:grpSpPr>
        <p:sp>
          <p:nvSpPr>
            <p:cNvPr id="84" name="직사각형 37"/>
            <p:cNvSpPr txBox="1"/>
            <p:nvPr/>
          </p:nvSpPr>
          <p:spPr>
            <a:xfrm>
              <a:off x="182880" y="-1"/>
              <a:ext cx="4197034" cy="2794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a:spcBef>
                  <a:spcPts val="600"/>
                </a:spcBef>
                <a:defRPr>
                  <a:solidFill>
                    <a:srgbClr val="404040"/>
                  </a:solidFill>
                  <a:latin typeface="SamsungOne 700"/>
                  <a:ea typeface="SamsungOne 700"/>
                  <a:cs typeface="SamsungOne 700"/>
                  <a:sym typeface="SamsungOne 700"/>
                </a:defRPr>
              </a:lvl1pPr>
            </a:lstStyle>
            <a:p>
              <a:r>
                <a:t>UNIT 2. Data Set Involved</a:t>
              </a:r>
            </a:p>
          </p:txBody>
        </p:sp>
        <p:sp>
          <p:nvSpPr>
            <p:cNvPr id="85" name="직사각형 38"/>
            <p:cNvSpPr/>
            <p:nvPr/>
          </p:nvSpPr>
          <p:spPr>
            <a:xfrm>
              <a:off x="0" y="27"/>
              <a:ext cx="36001" cy="252001"/>
            </a:xfrm>
            <a:prstGeom prst="rect">
              <a:avLst/>
            </a:prstGeom>
            <a:solidFill>
              <a:srgbClr val="193EB0"/>
            </a:solidFill>
            <a:ln w="12700" cap="flat">
              <a:noFill/>
              <a:miter lim="400000"/>
            </a:ln>
            <a:effectLst/>
          </p:spPr>
          <p:txBody>
            <a:bodyPr wrap="square" lIns="45719" tIns="45719" rIns="45719" bIns="45719" numCol="1" anchor="ctr">
              <a:noAutofit/>
            </a:bodyPr>
            <a:lstStyle/>
            <a:p>
              <a:pPr algn="ctr">
                <a:defRPr sz="2800">
                  <a:solidFill>
                    <a:srgbClr val="FFFFFF"/>
                  </a:solidFill>
                </a:defRPr>
              </a:pPr>
              <a:endParaRPr/>
            </a:p>
          </p:txBody>
        </p:sp>
      </p:grpSp>
      <p:sp>
        <p:nvSpPr>
          <p:cNvPr id="87" name="Click here to access the Data set">
            <a:hlinkClick r:id="rId3"/>
          </p:cNvPr>
          <p:cNvSpPr txBox="1"/>
          <p:nvPr/>
        </p:nvSpPr>
        <p:spPr>
          <a:xfrm>
            <a:off x="792269" y="2799486"/>
            <a:ext cx="4506070" cy="3693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lvl1pPr marL="180472" indent="-180472">
              <a:buSzPct val="100000"/>
              <a:buChar char="•"/>
              <a:defRPr>
                <a:latin typeface="Times New Roman"/>
                <a:ea typeface="Times New Roman"/>
                <a:cs typeface="Times New Roman"/>
                <a:sym typeface="Times New Roman"/>
              </a:defRPr>
            </a:lvl1pPr>
          </a:lstStyle>
          <a:p>
            <a:r>
              <a:rPr u="sng" dirty="0"/>
              <a:t>Click here to access the Data set</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직사각형 133"/>
          <p:cNvSpPr txBox="1"/>
          <p:nvPr/>
        </p:nvSpPr>
        <p:spPr>
          <a:xfrm>
            <a:off x="558799" y="928961"/>
            <a:ext cx="7899925" cy="838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2800">
                <a:solidFill>
                  <a:srgbClr val="FFFFFF"/>
                </a:solidFill>
                <a:latin typeface="Times New Roman"/>
                <a:ea typeface="Times New Roman"/>
                <a:cs typeface="Times New Roman"/>
                <a:sym typeface="Times New Roman"/>
              </a:defRPr>
            </a:lvl1pPr>
          </a:lstStyle>
          <a:p>
            <a:r>
              <a:t>STORE SALES AND PROFIT ANALYSIS</a:t>
            </a:r>
          </a:p>
        </p:txBody>
      </p:sp>
      <p:grpSp>
        <p:nvGrpSpPr>
          <p:cNvPr id="94" name="Group 1"/>
          <p:cNvGrpSpPr/>
          <p:nvPr/>
        </p:nvGrpSpPr>
        <p:grpSpPr>
          <a:xfrm>
            <a:off x="370356" y="2123828"/>
            <a:ext cx="6037351" cy="279401"/>
            <a:chOff x="0" y="0"/>
            <a:chExt cx="6037349" cy="279400"/>
          </a:xfrm>
        </p:grpSpPr>
        <p:sp>
          <p:nvSpPr>
            <p:cNvPr id="92" name="직사각형 37"/>
            <p:cNvSpPr txBox="1"/>
            <p:nvPr/>
          </p:nvSpPr>
          <p:spPr>
            <a:xfrm>
              <a:off x="171046" y="-1"/>
              <a:ext cx="5866304" cy="2794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a:spcBef>
                  <a:spcPts val="600"/>
                </a:spcBef>
                <a:defRPr>
                  <a:solidFill>
                    <a:srgbClr val="404040"/>
                  </a:solidFill>
                  <a:latin typeface="SamsungOne 700"/>
                  <a:ea typeface="SamsungOne 700"/>
                  <a:cs typeface="SamsungOne 700"/>
                  <a:sym typeface="SamsungOne 700"/>
                </a:defRPr>
              </a:lvl1pPr>
            </a:lstStyle>
            <a:p>
              <a:r>
                <a:t>UNIT 3. Data Analysis and Visualization Concepts Applied</a:t>
              </a:r>
            </a:p>
          </p:txBody>
        </p:sp>
        <p:sp>
          <p:nvSpPr>
            <p:cNvPr id="93" name="직사각형 38"/>
            <p:cNvSpPr/>
            <p:nvPr/>
          </p:nvSpPr>
          <p:spPr>
            <a:xfrm>
              <a:off x="0" y="25108"/>
              <a:ext cx="50318" cy="252001"/>
            </a:xfrm>
            <a:prstGeom prst="rect">
              <a:avLst/>
            </a:prstGeom>
            <a:solidFill>
              <a:srgbClr val="193EB0"/>
            </a:solidFill>
            <a:ln w="12700" cap="flat">
              <a:noFill/>
              <a:miter lim="400000"/>
            </a:ln>
            <a:effectLst/>
          </p:spPr>
          <p:txBody>
            <a:bodyPr wrap="square" lIns="45719" tIns="45719" rIns="45719" bIns="45719" numCol="1" anchor="ctr">
              <a:noAutofit/>
            </a:bodyPr>
            <a:lstStyle/>
            <a:p>
              <a:pPr algn="ctr">
                <a:defRPr sz="2800">
                  <a:solidFill>
                    <a:srgbClr val="FFFFFF"/>
                  </a:solidFill>
                </a:defRPr>
              </a:pPr>
              <a:endParaRPr/>
            </a:p>
          </p:txBody>
        </p:sp>
      </p:grpSp>
      <p:sp>
        <p:nvSpPr>
          <p:cNvPr id="95" name="TextBox 3"/>
          <p:cNvSpPr txBox="1"/>
          <p:nvPr/>
        </p:nvSpPr>
        <p:spPr>
          <a:xfrm>
            <a:off x="137264" y="2400936"/>
            <a:ext cx="9783976" cy="419760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defRPr sz="1600">
                <a:latin typeface="Times New Roman"/>
                <a:ea typeface="Times New Roman"/>
                <a:cs typeface="Times New Roman"/>
                <a:sym typeface="Times New Roman"/>
              </a:defRPr>
            </a:pPr>
            <a:endParaRPr/>
          </a:p>
          <a:p>
            <a:pPr>
              <a:defRPr sz="1600">
                <a:latin typeface="Times New Roman"/>
                <a:ea typeface="Times New Roman"/>
                <a:cs typeface="Times New Roman"/>
                <a:sym typeface="Times New Roman"/>
              </a:defRPr>
            </a:pPr>
            <a:r>
              <a:t>1. Data Cleaning and Preparation:</a:t>
            </a:r>
          </a:p>
          <a:p>
            <a:pPr>
              <a:defRPr sz="1600">
                <a:latin typeface="Times New Roman"/>
                <a:ea typeface="Times New Roman"/>
                <a:cs typeface="Times New Roman"/>
                <a:sym typeface="Times New Roman"/>
              </a:defRPr>
            </a:pPr>
            <a:r>
              <a:t>-Data is read from 'Sample - Superstore.csv' using Pandas, unwanted columns are dropped, and 'Order Date' is converted to datetime, adding new columns for 'Order Day', 'Order Month', and 'Order Year’.</a:t>
            </a:r>
          </a:p>
          <a:p>
            <a:pPr>
              <a:defRPr sz="1600">
                <a:latin typeface="Times New Roman"/>
                <a:ea typeface="Times New Roman"/>
                <a:cs typeface="Times New Roman"/>
                <a:sym typeface="Times New Roman"/>
              </a:defRPr>
            </a:pPr>
            <a:endParaRPr/>
          </a:p>
          <a:p>
            <a:pPr>
              <a:defRPr sz="1600">
                <a:latin typeface="Times New Roman"/>
                <a:ea typeface="Times New Roman"/>
                <a:cs typeface="Times New Roman"/>
                <a:sym typeface="Times New Roman"/>
              </a:defRPr>
            </a:pPr>
            <a:r>
              <a:t>2. Monthly Data Analysis:</a:t>
            </a:r>
          </a:p>
          <a:p>
            <a:pPr>
              <a:defRPr sz="1600">
                <a:latin typeface="Times New Roman"/>
                <a:ea typeface="Times New Roman"/>
                <a:cs typeface="Times New Roman"/>
                <a:sym typeface="Times New Roman"/>
              </a:defRPr>
            </a:pPr>
            <a:r>
              <a:t>- Two line charts are created using plotly.express to visualize the monthly sales and profit trends over the years.</a:t>
            </a:r>
          </a:p>
          <a:p>
            <a:pPr>
              <a:defRPr sz="1600">
                <a:latin typeface="Times New Roman"/>
                <a:ea typeface="Times New Roman"/>
                <a:cs typeface="Times New Roman"/>
                <a:sym typeface="Times New Roman"/>
              </a:defRPr>
            </a:pPr>
            <a:endParaRPr/>
          </a:p>
          <a:p>
            <a:pPr>
              <a:defRPr sz="1600">
                <a:latin typeface="Times New Roman"/>
                <a:ea typeface="Times New Roman"/>
                <a:cs typeface="Times New Roman"/>
                <a:sym typeface="Times New Roman"/>
              </a:defRPr>
            </a:pPr>
            <a:r>
              <a:t>3. Category Data Analysis:</a:t>
            </a:r>
          </a:p>
          <a:p>
            <a:pPr>
              <a:defRPr sz="1600">
                <a:latin typeface="Times New Roman"/>
                <a:ea typeface="Times New Roman"/>
                <a:cs typeface="Times New Roman"/>
                <a:sym typeface="Times New Roman"/>
              </a:defRPr>
            </a:pPr>
            <a:r>
              <a:t>- A pie chart is created using plotly.express to visualize the distribution of sales across different categories.</a:t>
            </a:r>
          </a:p>
          <a:p>
            <a:pPr>
              <a:defRPr sz="1600">
                <a:latin typeface="Times New Roman"/>
                <a:ea typeface="Times New Roman"/>
                <a:cs typeface="Times New Roman"/>
                <a:sym typeface="Times New Roman"/>
              </a:defRPr>
            </a:pPr>
            <a:endParaRPr/>
          </a:p>
          <a:p>
            <a:pPr>
              <a:defRPr sz="1600">
                <a:latin typeface="Times New Roman"/>
                <a:ea typeface="Times New Roman"/>
                <a:cs typeface="Times New Roman"/>
                <a:sym typeface="Times New Roman"/>
              </a:defRPr>
            </a:pPr>
            <a:r>
              <a:t>4. Sub-Category Data Analysis:</a:t>
            </a:r>
          </a:p>
          <a:p>
            <a:pPr>
              <a:defRPr sz="1600">
                <a:latin typeface="Times New Roman"/>
                <a:ea typeface="Times New Roman"/>
                <a:cs typeface="Times New Roman"/>
                <a:sym typeface="Times New Roman"/>
              </a:defRPr>
            </a:pPr>
            <a:r>
              <a:t>- Two bar charts are created using plotly.express to visualize the sales and profit for each sub-category.</a:t>
            </a:r>
          </a:p>
          <a:p>
            <a:pPr>
              <a:defRPr sz="1600">
                <a:latin typeface="Times New Roman"/>
                <a:ea typeface="Times New Roman"/>
                <a:cs typeface="Times New Roman"/>
                <a:sym typeface="Times New Roman"/>
              </a:defRPr>
            </a:pPr>
            <a:endParaRPr/>
          </a:p>
          <a:p>
            <a:pPr>
              <a:defRPr sz="1600">
                <a:latin typeface="Times New Roman"/>
                <a:ea typeface="Times New Roman"/>
                <a:cs typeface="Times New Roman"/>
                <a:sym typeface="Times New Roman"/>
              </a:defRPr>
            </a:pPr>
            <a:r>
              <a:t>5. Customer Segment Data Analysis:</a:t>
            </a:r>
          </a:p>
          <a:p>
            <a:pPr>
              <a:defRPr sz="1600">
                <a:latin typeface="Times New Roman"/>
                <a:ea typeface="Times New Roman"/>
                <a:cs typeface="Times New Roman"/>
                <a:sym typeface="Times New Roman"/>
              </a:defRPr>
            </a:pPr>
            <a:r>
              <a:t>- A grouped bar chart is created using plotly.graph_objects to visualize the sales and profit for each customer segment.</a:t>
            </a:r>
          </a:p>
          <a:p>
            <a:pPr>
              <a:defRPr sz="1600">
                <a:latin typeface="Times New Roman"/>
                <a:ea typeface="Times New Roman"/>
                <a:cs typeface="Times New Roman"/>
                <a:sym typeface="Times New Roman"/>
              </a:defRPr>
            </a:pPr>
            <a:endParaRP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직사각형 133"/>
          <p:cNvSpPr txBox="1"/>
          <p:nvPr/>
        </p:nvSpPr>
        <p:spPr>
          <a:xfrm>
            <a:off x="558799" y="928961"/>
            <a:ext cx="7021577" cy="39129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2800">
                <a:solidFill>
                  <a:srgbClr val="FFFFFF"/>
                </a:solidFill>
                <a:latin typeface="Times New Roman"/>
                <a:ea typeface="Times New Roman"/>
                <a:cs typeface="Times New Roman"/>
                <a:sym typeface="Times New Roman"/>
              </a:defRPr>
            </a:lvl1pPr>
          </a:lstStyle>
          <a:p>
            <a:r>
              <a:t>STORE SALES AND PROFIT ANALYSIS</a:t>
            </a:r>
          </a:p>
        </p:txBody>
      </p:sp>
      <p:grpSp>
        <p:nvGrpSpPr>
          <p:cNvPr id="102" name="Group 1"/>
          <p:cNvGrpSpPr/>
          <p:nvPr/>
        </p:nvGrpSpPr>
        <p:grpSpPr>
          <a:xfrm>
            <a:off x="558798" y="2146269"/>
            <a:ext cx="6529097" cy="914401"/>
            <a:chOff x="0" y="0"/>
            <a:chExt cx="6529095" cy="914400"/>
          </a:xfrm>
        </p:grpSpPr>
        <p:sp>
          <p:nvSpPr>
            <p:cNvPr id="100" name="직사각형 37"/>
            <p:cNvSpPr txBox="1"/>
            <p:nvPr/>
          </p:nvSpPr>
          <p:spPr>
            <a:xfrm>
              <a:off x="272617" y="-1"/>
              <a:ext cx="6256479" cy="9144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p>
              <a:pPr>
                <a:spcBef>
                  <a:spcPts val="600"/>
                </a:spcBef>
                <a:defRPr>
                  <a:solidFill>
                    <a:srgbClr val="404040"/>
                  </a:solidFill>
                  <a:latin typeface="SamsungOne 700"/>
                  <a:ea typeface="SamsungOne 700"/>
                  <a:cs typeface="SamsungOne 700"/>
                  <a:sym typeface="SamsungOne 700"/>
                </a:defRPr>
              </a:pPr>
              <a:r>
                <a:t>UNIT 4. Outcomes</a:t>
              </a:r>
              <a:endParaRPr>
                <a:solidFill>
                  <a:srgbClr val="FFFFFF"/>
                </a:solidFill>
              </a:endParaRPr>
            </a:p>
            <a:p>
              <a:pPr>
                <a:defRPr>
                  <a:solidFill>
                    <a:srgbClr val="404040"/>
                  </a:solidFill>
                  <a:latin typeface="SamsungOne 700"/>
                  <a:ea typeface="SamsungOne 700"/>
                  <a:cs typeface="SamsungOne 700"/>
                  <a:sym typeface="SamsungOne 700"/>
                </a:defRPr>
              </a:pPr>
              <a:r>
                <a:t>	</a:t>
              </a:r>
            </a:p>
          </p:txBody>
        </p:sp>
        <p:sp>
          <p:nvSpPr>
            <p:cNvPr id="101" name="직사각형 38"/>
            <p:cNvSpPr/>
            <p:nvPr/>
          </p:nvSpPr>
          <p:spPr>
            <a:xfrm>
              <a:off x="0" y="37234"/>
              <a:ext cx="53665" cy="252001"/>
            </a:xfrm>
            <a:prstGeom prst="rect">
              <a:avLst/>
            </a:prstGeom>
            <a:solidFill>
              <a:srgbClr val="193EB0"/>
            </a:solidFill>
            <a:ln w="12700" cap="flat">
              <a:noFill/>
              <a:miter lim="400000"/>
            </a:ln>
            <a:effectLst/>
          </p:spPr>
          <p:txBody>
            <a:bodyPr wrap="square" lIns="45719" tIns="45719" rIns="45719" bIns="45719" numCol="1" anchor="ctr">
              <a:noAutofit/>
            </a:bodyPr>
            <a:lstStyle/>
            <a:p>
              <a:pPr algn="ctr">
                <a:defRPr sz="2800">
                  <a:solidFill>
                    <a:srgbClr val="FFFFFF"/>
                  </a:solidFill>
                </a:defRPr>
              </a:pPr>
              <a:endParaRPr/>
            </a:p>
          </p:txBody>
        </p:sp>
      </p:grpSp>
      <p:sp>
        <p:nvSpPr>
          <p:cNvPr id="103" name="TextBox 9"/>
          <p:cNvSpPr txBox="1"/>
          <p:nvPr/>
        </p:nvSpPr>
        <p:spPr>
          <a:xfrm>
            <a:off x="446855" y="2615183"/>
            <a:ext cx="7773601" cy="278183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endParaRPr/>
          </a:p>
          <a:p>
            <a:pPr>
              <a:defRPr>
                <a:latin typeface="Times New Roman"/>
                <a:ea typeface="Times New Roman"/>
                <a:cs typeface="Times New Roman"/>
                <a:sym typeface="Times New Roman"/>
              </a:defRPr>
            </a:pPr>
            <a:r>
              <a:t>1. The store's monthly sales will be analyzed and presented visually using a Line Chart.</a:t>
            </a:r>
          </a:p>
          <a:p>
            <a:pPr>
              <a:defRPr>
                <a:latin typeface="Times New Roman"/>
                <a:ea typeface="Times New Roman"/>
                <a:cs typeface="Times New Roman"/>
                <a:sym typeface="Times New Roman"/>
              </a:defRPr>
            </a:pPr>
            <a:r>
              <a:t>2. Sales analysis for the store's categories and sub-categories (products) will be conducted and visualized using Pie or/and Bar charts.</a:t>
            </a:r>
          </a:p>
          <a:p>
            <a:pPr>
              <a:defRPr>
                <a:latin typeface="Times New Roman"/>
                <a:ea typeface="Times New Roman"/>
                <a:cs typeface="Times New Roman"/>
                <a:sym typeface="Times New Roman"/>
              </a:defRPr>
            </a:pPr>
            <a:r>
              <a:t>3. The monthly profit of the store will be analyzed and visually represented through a Line Chart.</a:t>
            </a:r>
          </a:p>
          <a:p>
            <a:pPr>
              <a:defRPr>
                <a:latin typeface="Times New Roman"/>
                <a:ea typeface="Times New Roman"/>
                <a:cs typeface="Times New Roman"/>
                <a:sym typeface="Times New Roman"/>
              </a:defRPr>
            </a:pPr>
            <a:r>
              <a:t>4. Profit analysis for the store's categories and sub-categories (products) will be performed and presented visually using Pie or/and Bar charts.</a:t>
            </a:r>
          </a:p>
          <a:p>
            <a:pPr>
              <a:defRPr>
                <a:latin typeface="Times New Roman"/>
                <a:ea typeface="Times New Roman"/>
                <a:cs typeface="Times New Roman"/>
                <a:sym typeface="Times New Roman"/>
              </a:defRPr>
            </a:pPr>
            <a:r>
              <a:t>5. Customer segments' sales and profit analysis will be visualized using a Bar chart</a:t>
            </a:r>
            <a:r>
              <a:rPr>
                <a:latin typeface="Calibri"/>
                <a:ea typeface="Calibri"/>
                <a:cs typeface="Calibri"/>
                <a:sym typeface="Calibri"/>
              </a:rPr>
              <a:t>.</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직사각형 133"/>
          <p:cNvSpPr txBox="1"/>
          <p:nvPr/>
        </p:nvSpPr>
        <p:spPr>
          <a:xfrm>
            <a:off x="558799" y="928961"/>
            <a:ext cx="6683248" cy="838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2800">
                <a:solidFill>
                  <a:srgbClr val="FFFFFF"/>
                </a:solidFill>
                <a:latin typeface="Times New Roman"/>
                <a:ea typeface="Times New Roman"/>
                <a:cs typeface="Times New Roman"/>
                <a:sym typeface="Times New Roman"/>
              </a:defRPr>
            </a:lvl1pPr>
          </a:lstStyle>
          <a:p>
            <a:r>
              <a:t>STORE SALES AND PROFIT ANALYSIS</a:t>
            </a:r>
          </a:p>
        </p:txBody>
      </p:sp>
      <p:grpSp>
        <p:nvGrpSpPr>
          <p:cNvPr id="110" name="Group 6"/>
          <p:cNvGrpSpPr/>
          <p:nvPr/>
        </p:nvGrpSpPr>
        <p:grpSpPr>
          <a:xfrm>
            <a:off x="365575" y="2252309"/>
            <a:ext cx="6529097" cy="279401"/>
            <a:chOff x="0" y="0"/>
            <a:chExt cx="6529095" cy="279400"/>
          </a:xfrm>
        </p:grpSpPr>
        <p:sp>
          <p:nvSpPr>
            <p:cNvPr id="108" name="직사각형 37"/>
            <p:cNvSpPr txBox="1"/>
            <p:nvPr/>
          </p:nvSpPr>
          <p:spPr>
            <a:xfrm>
              <a:off x="272617" y="-1"/>
              <a:ext cx="6256479" cy="2794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a:spcBef>
                  <a:spcPts val="600"/>
                </a:spcBef>
                <a:defRPr>
                  <a:solidFill>
                    <a:srgbClr val="404040"/>
                  </a:solidFill>
                  <a:latin typeface="SamsungOne 700"/>
                  <a:ea typeface="SamsungOne 700"/>
                  <a:cs typeface="SamsungOne 700"/>
                  <a:sym typeface="SamsungOne 700"/>
                </a:defRPr>
              </a:lvl1pPr>
            </a:lstStyle>
            <a:p>
              <a:r>
                <a:t>Visualization </a:t>
              </a:r>
            </a:p>
          </p:txBody>
        </p:sp>
        <p:sp>
          <p:nvSpPr>
            <p:cNvPr id="109" name="직사각형 38"/>
            <p:cNvSpPr/>
            <p:nvPr/>
          </p:nvSpPr>
          <p:spPr>
            <a:xfrm>
              <a:off x="0" y="28"/>
              <a:ext cx="53665" cy="252001"/>
            </a:xfrm>
            <a:prstGeom prst="rect">
              <a:avLst/>
            </a:prstGeom>
            <a:solidFill>
              <a:srgbClr val="193EB0"/>
            </a:solidFill>
            <a:ln w="12700" cap="flat">
              <a:noFill/>
              <a:miter lim="400000"/>
            </a:ln>
            <a:effectLst/>
          </p:spPr>
          <p:txBody>
            <a:bodyPr wrap="square" lIns="45719" tIns="45719" rIns="45719" bIns="45719" numCol="1" anchor="ctr">
              <a:noAutofit/>
            </a:bodyPr>
            <a:lstStyle/>
            <a:p>
              <a:pPr algn="ctr">
                <a:defRPr sz="2800">
                  <a:solidFill>
                    <a:srgbClr val="FFFFFF"/>
                  </a:solidFill>
                </a:defRPr>
              </a:pPr>
              <a:endParaRPr/>
            </a:p>
          </p:txBody>
        </p:sp>
      </p:grpSp>
      <p:pic>
        <p:nvPicPr>
          <p:cNvPr id="111" name="Picture 11" descr="Picture 11"/>
          <p:cNvPicPr>
            <a:picLocks noChangeAspect="1"/>
          </p:cNvPicPr>
          <p:nvPr/>
        </p:nvPicPr>
        <p:blipFill>
          <a:blip r:embed="rId3"/>
          <a:stretch>
            <a:fillRect/>
          </a:stretch>
        </p:blipFill>
        <p:spPr>
          <a:xfrm>
            <a:off x="266322" y="2947475"/>
            <a:ext cx="9394402" cy="3096709"/>
          </a:xfrm>
          <a:prstGeom prst="rect">
            <a:avLst/>
          </a:prstGeom>
          <a:ln w="12700">
            <a:miter lim="400000"/>
          </a:ln>
        </p:spPr>
      </p:pic>
      <p:sp>
        <p:nvSpPr>
          <p:cNvPr id="112" name="TextBox 12"/>
          <p:cNvSpPr txBox="1"/>
          <p:nvPr/>
        </p:nvSpPr>
        <p:spPr>
          <a:xfrm>
            <a:off x="3438144" y="2541240"/>
            <a:ext cx="3831336" cy="3330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r>
              <a:t>Monthly Sales Analysis</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직사각형 133"/>
          <p:cNvSpPr txBox="1"/>
          <p:nvPr/>
        </p:nvSpPr>
        <p:spPr>
          <a:xfrm>
            <a:off x="558799" y="928961"/>
            <a:ext cx="6683248" cy="838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2800">
                <a:solidFill>
                  <a:srgbClr val="FFFFFF"/>
                </a:solidFill>
                <a:latin typeface="Times New Roman"/>
                <a:ea typeface="Times New Roman"/>
                <a:cs typeface="Times New Roman"/>
                <a:sym typeface="Times New Roman"/>
              </a:defRPr>
            </a:lvl1pPr>
          </a:lstStyle>
          <a:p>
            <a:r>
              <a:t>STORE SALES AND PROFIT ANALYSIS</a:t>
            </a:r>
          </a:p>
        </p:txBody>
      </p:sp>
      <p:grpSp>
        <p:nvGrpSpPr>
          <p:cNvPr id="119" name="Group 6"/>
          <p:cNvGrpSpPr/>
          <p:nvPr/>
        </p:nvGrpSpPr>
        <p:grpSpPr>
          <a:xfrm>
            <a:off x="365575" y="2252309"/>
            <a:ext cx="6529097" cy="279401"/>
            <a:chOff x="0" y="0"/>
            <a:chExt cx="6529095" cy="279400"/>
          </a:xfrm>
        </p:grpSpPr>
        <p:sp>
          <p:nvSpPr>
            <p:cNvPr id="117" name="직사각형 37"/>
            <p:cNvSpPr txBox="1"/>
            <p:nvPr/>
          </p:nvSpPr>
          <p:spPr>
            <a:xfrm>
              <a:off x="272617" y="-1"/>
              <a:ext cx="6256479" cy="2794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a:spcBef>
                  <a:spcPts val="600"/>
                </a:spcBef>
                <a:defRPr>
                  <a:solidFill>
                    <a:srgbClr val="404040"/>
                  </a:solidFill>
                  <a:latin typeface="SamsungOne 700"/>
                  <a:ea typeface="SamsungOne 700"/>
                  <a:cs typeface="SamsungOne 700"/>
                  <a:sym typeface="SamsungOne 700"/>
                </a:defRPr>
              </a:lvl1pPr>
            </a:lstStyle>
            <a:p>
              <a:r>
                <a:t>Visualization </a:t>
              </a:r>
            </a:p>
          </p:txBody>
        </p:sp>
        <p:sp>
          <p:nvSpPr>
            <p:cNvPr id="118" name="직사각형 38"/>
            <p:cNvSpPr/>
            <p:nvPr/>
          </p:nvSpPr>
          <p:spPr>
            <a:xfrm>
              <a:off x="0" y="28"/>
              <a:ext cx="53665" cy="252001"/>
            </a:xfrm>
            <a:prstGeom prst="rect">
              <a:avLst/>
            </a:prstGeom>
            <a:solidFill>
              <a:srgbClr val="193EB0"/>
            </a:solidFill>
            <a:ln w="12700" cap="flat">
              <a:noFill/>
              <a:miter lim="400000"/>
            </a:ln>
            <a:effectLst/>
          </p:spPr>
          <p:txBody>
            <a:bodyPr wrap="square" lIns="45719" tIns="45719" rIns="45719" bIns="45719" numCol="1" anchor="ctr">
              <a:noAutofit/>
            </a:bodyPr>
            <a:lstStyle/>
            <a:p>
              <a:pPr algn="ctr">
                <a:defRPr sz="2800">
                  <a:solidFill>
                    <a:srgbClr val="FFFFFF"/>
                  </a:solidFill>
                </a:defRPr>
              </a:pPr>
              <a:endParaRPr/>
            </a:p>
          </p:txBody>
        </p:sp>
      </p:grpSp>
      <p:sp>
        <p:nvSpPr>
          <p:cNvPr id="120" name="TextBox 12"/>
          <p:cNvSpPr txBox="1"/>
          <p:nvPr/>
        </p:nvSpPr>
        <p:spPr>
          <a:xfrm>
            <a:off x="3438144" y="2541240"/>
            <a:ext cx="3831336" cy="3330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r>
              <a:t>Monthly Profit Analysis</a:t>
            </a:r>
          </a:p>
        </p:txBody>
      </p:sp>
      <p:pic>
        <p:nvPicPr>
          <p:cNvPr id="121" name="Picture 2" descr="Picture 2"/>
          <p:cNvPicPr>
            <a:picLocks noChangeAspect="1"/>
          </p:cNvPicPr>
          <p:nvPr/>
        </p:nvPicPr>
        <p:blipFill>
          <a:blip r:embed="rId3"/>
          <a:stretch>
            <a:fillRect/>
          </a:stretch>
        </p:blipFill>
        <p:spPr>
          <a:xfrm>
            <a:off x="-2" y="2993283"/>
            <a:ext cx="9902826" cy="3277586"/>
          </a:xfrm>
          <a:prstGeom prst="rect">
            <a:avLst/>
          </a:prstGeom>
          <a:ln w="12700">
            <a:miter lim="400000"/>
          </a:ln>
        </p:spPr>
      </p:pic>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 name="직사각형 133"/>
          <p:cNvSpPr txBox="1"/>
          <p:nvPr/>
        </p:nvSpPr>
        <p:spPr>
          <a:xfrm>
            <a:off x="558799" y="928961"/>
            <a:ext cx="6683248" cy="838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2800">
                <a:solidFill>
                  <a:srgbClr val="FFFFFF"/>
                </a:solidFill>
                <a:latin typeface="Times New Roman"/>
                <a:ea typeface="Times New Roman"/>
                <a:cs typeface="Times New Roman"/>
                <a:sym typeface="Times New Roman"/>
              </a:defRPr>
            </a:lvl1pPr>
          </a:lstStyle>
          <a:p>
            <a:r>
              <a:t>STORE SALES AND PROFIT ANALYSIS</a:t>
            </a:r>
          </a:p>
        </p:txBody>
      </p:sp>
      <p:grpSp>
        <p:nvGrpSpPr>
          <p:cNvPr id="128" name="Group 6"/>
          <p:cNvGrpSpPr/>
          <p:nvPr/>
        </p:nvGrpSpPr>
        <p:grpSpPr>
          <a:xfrm>
            <a:off x="365575" y="2252309"/>
            <a:ext cx="6529097" cy="279401"/>
            <a:chOff x="0" y="0"/>
            <a:chExt cx="6529095" cy="279400"/>
          </a:xfrm>
        </p:grpSpPr>
        <p:sp>
          <p:nvSpPr>
            <p:cNvPr id="126" name="직사각형 37"/>
            <p:cNvSpPr txBox="1"/>
            <p:nvPr/>
          </p:nvSpPr>
          <p:spPr>
            <a:xfrm>
              <a:off x="272617" y="-1"/>
              <a:ext cx="6256479" cy="2794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a:spcBef>
                  <a:spcPts val="600"/>
                </a:spcBef>
                <a:defRPr>
                  <a:solidFill>
                    <a:srgbClr val="404040"/>
                  </a:solidFill>
                  <a:latin typeface="SamsungOne 700"/>
                  <a:ea typeface="SamsungOne 700"/>
                  <a:cs typeface="SamsungOne 700"/>
                  <a:sym typeface="SamsungOne 700"/>
                </a:defRPr>
              </a:lvl1pPr>
            </a:lstStyle>
            <a:p>
              <a:r>
                <a:t>Visualization </a:t>
              </a:r>
            </a:p>
          </p:txBody>
        </p:sp>
        <p:sp>
          <p:nvSpPr>
            <p:cNvPr id="127" name="직사각형 38"/>
            <p:cNvSpPr/>
            <p:nvPr/>
          </p:nvSpPr>
          <p:spPr>
            <a:xfrm>
              <a:off x="0" y="28"/>
              <a:ext cx="53665" cy="252001"/>
            </a:xfrm>
            <a:prstGeom prst="rect">
              <a:avLst/>
            </a:prstGeom>
            <a:solidFill>
              <a:srgbClr val="193EB0"/>
            </a:solidFill>
            <a:ln w="12700" cap="flat">
              <a:noFill/>
              <a:miter lim="400000"/>
            </a:ln>
            <a:effectLst/>
          </p:spPr>
          <p:txBody>
            <a:bodyPr wrap="square" lIns="45719" tIns="45719" rIns="45719" bIns="45719" numCol="1" anchor="ctr">
              <a:noAutofit/>
            </a:bodyPr>
            <a:lstStyle/>
            <a:p>
              <a:pPr algn="ctr">
                <a:defRPr sz="2800">
                  <a:solidFill>
                    <a:srgbClr val="FFFFFF"/>
                  </a:solidFill>
                </a:defRPr>
              </a:pPr>
              <a:endParaRPr/>
            </a:p>
          </p:txBody>
        </p:sp>
      </p:grpSp>
      <p:sp>
        <p:nvSpPr>
          <p:cNvPr id="129" name="TextBox 12"/>
          <p:cNvSpPr txBox="1"/>
          <p:nvPr/>
        </p:nvSpPr>
        <p:spPr>
          <a:xfrm>
            <a:off x="2931252" y="2325037"/>
            <a:ext cx="3831337" cy="33308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lstStyle>
          <a:p>
            <a:r>
              <a:t>Category Sales Analysis</a:t>
            </a:r>
          </a:p>
        </p:txBody>
      </p:sp>
      <p:pic>
        <p:nvPicPr>
          <p:cNvPr id="130" name="Picture 9" descr="Picture 9"/>
          <p:cNvPicPr>
            <a:picLocks noChangeAspect="1"/>
          </p:cNvPicPr>
          <p:nvPr/>
        </p:nvPicPr>
        <p:blipFill>
          <a:blip r:embed="rId3"/>
          <a:stretch>
            <a:fillRect/>
          </a:stretch>
        </p:blipFill>
        <p:spPr>
          <a:xfrm>
            <a:off x="265177" y="2649012"/>
            <a:ext cx="9163488" cy="3694326"/>
          </a:xfrm>
          <a:prstGeom prst="rect">
            <a:avLst/>
          </a:prstGeom>
          <a:ln w="12700">
            <a:miter lim="400000"/>
          </a:ln>
        </p:spPr>
      </p:pic>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 name="직사각형 133"/>
          <p:cNvSpPr txBox="1"/>
          <p:nvPr/>
        </p:nvSpPr>
        <p:spPr>
          <a:xfrm>
            <a:off x="558799" y="928961"/>
            <a:ext cx="6683248" cy="838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2800">
                <a:solidFill>
                  <a:srgbClr val="FFFFFF"/>
                </a:solidFill>
                <a:latin typeface="Times New Roman"/>
                <a:ea typeface="Times New Roman"/>
                <a:cs typeface="Times New Roman"/>
                <a:sym typeface="Times New Roman"/>
              </a:defRPr>
            </a:lvl1pPr>
          </a:lstStyle>
          <a:p>
            <a:r>
              <a:t>STORE SALES AND PROFIT ANALYSIS</a:t>
            </a:r>
          </a:p>
        </p:txBody>
      </p:sp>
      <p:grpSp>
        <p:nvGrpSpPr>
          <p:cNvPr id="137" name="Group 6"/>
          <p:cNvGrpSpPr/>
          <p:nvPr/>
        </p:nvGrpSpPr>
        <p:grpSpPr>
          <a:xfrm>
            <a:off x="365575" y="2252309"/>
            <a:ext cx="6529097" cy="279401"/>
            <a:chOff x="0" y="0"/>
            <a:chExt cx="6529095" cy="279400"/>
          </a:xfrm>
        </p:grpSpPr>
        <p:sp>
          <p:nvSpPr>
            <p:cNvPr id="135" name="직사각형 37"/>
            <p:cNvSpPr txBox="1"/>
            <p:nvPr/>
          </p:nvSpPr>
          <p:spPr>
            <a:xfrm>
              <a:off x="272617" y="-1"/>
              <a:ext cx="6256479" cy="2794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a:spcBef>
                  <a:spcPts val="600"/>
                </a:spcBef>
                <a:defRPr>
                  <a:solidFill>
                    <a:srgbClr val="404040"/>
                  </a:solidFill>
                  <a:latin typeface="SamsungOne 700"/>
                  <a:ea typeface="SamsungOne 700"/>
                  <a:cs typeface="SamsungOne 700"/>
                  <a:sym typeface="SamsungOne 700"/>
                </a:defRPr>
              </a:lvl1pPr>
            </a:lstStyle>
            <a:p>
              <a:r>
                <a:t>Visualization </a:t>
              </a:r>
            </a:p>
          </p:txBody>
        </p:sp>
        <p:sp>
          <p:nvSpPr>
            <p:cNvPr id="136" name="직사각형 38"/>
            <p:cNvSpPr/>
            <p:nvPr/>
          </p:nvSpPr>
          <p:spPr>
            <a:xfrm>
              <a:off x="0" y="28"/>
              <a:ext cx="53665" cy="252001"/>
            </a:xfrm>
            <a:prstGeom prst="rect">
              <a:avLst/>
            </a:prstGeom>
            <a:solidFill>
              <a:srgbClr val="193EB0"/>
            </a:solidFill>
            <a:ln w="12700" cap="flat">
              <a:noFill/>
              <a:miter lim="400000"/>
            </a:ln>
            <a:effectLst/>
          </p:spPr>
          <p:txBody>
            <a:bodyPr wrap="square" lIns="45719" tIns="45719" rIns="45719" bIns="45719" numCol="1" anchor="ctr">
              <a:noAutofit/>
            </a:bodyPr>
            <a:lstStyle/>
            <a:p>
              <a:pPr algn="ctr">
                <a:defRPr sz="2800">
                  <a:solidFill>
                    <a:srgbClr val="FFFFFF"/>
                  </a:solidFill>
                </a:defRPr>
              </a:pPr>
              <a:endParaRPr/>
            </a:p>
          </p:txBody>
        </p:sp>
      </p:grpSp>
      <p:sp>
        <p:nvSpPr>
          <p:cNvPr id="138" name="TextBox 12"/>
          <p:cNvSpPr txBox="1"/>
          <p:nvPr/>
        </p:nvSpPr>
        <p:spPr>
          <a:xfrm>
            <a:off x="3364991" y="2392009"/>
            <a:ext cx="3831337" cy="3330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r>
              <a:t>Category Profit Analysis</a:t>
            </a:r>
          </a:p>
        </p:txBody>
      </p:sp>
      <p:pic>
        <p:nvPicPr>
          <p:cNvPr id="139" name="Picture 9" descr="Picture 9"/>
          <p:cNvPicPr>
            <a:picLocks noChangeAspect="1"/>
          </p:cNvPicPr>
          <p:nvPr/>
        </p:nvPicPr>
        <p:blipFill>
          <a:blip r:embed="rId3"/>
          <a:stretch>
            <a:fillRect/>
          </a:stretch>
        </p:blipFill>
        <p:spPr>
          <a:xfrm>
            <a:off x="365574" y="2761340"/>
            <a:ext cx="9135042" cy="3584597"/>
          </a:xfrm>
          <a:prstGeom prst="rect">
            <a:avLst/>
          </a:prstGeom>
          <a:ln w="12700">
            <a:miter lim="400000"/>
          </a:ln>
        </p:spPr>
      </p:pic>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 name="직사각형 133"/>
          <p:cNvSpPr txBox="1"/>
          <p:nvPr/>
        </p:nvSpPr>
        <p:spPr>
          <a:xfrm>
            <a:off x="558799" y="928961"/>
            <a:ext cx="6683248" cy="838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2800">
                <a:solidFill>
                  <a:srgbClr val="FFFFFF"/>
                </a:solidFill>
                <a:latin typeface="Times New Roman"/>
                <a:ea typeface="Times New Roman"/>
                <a:cs typeface="Times New Roman"/>
                <a:sym typeface="Times New Roman"/>
              </a:defRPr>
            </a:lvl1pPr>
          </a:lstStyle>
          <a:p>
            <a:r>
              <a:t>STORE SALES AND PROFIT ANALYSIS</a:t>
            </a:r>
          </a:p>
        </p:txBody>
      </p:sp>
      <p:grpSp>
        <p:nvGrpSpPr>
          <p:cNvPr id="146" name="Group 6"/>
          <p:cNvGrpSpPr/>
          <p:nvPr/>
        </p:nvGrpSpPr>
        <p:grpSpPr>
          <a:xfrm>
            <a:off x="365575" y="2252309"/>
            <a:ext cx="6529097" cy="279401"/>
            <a:chOff x="0" y="0"/>
            <a:chExt cx="6529095" cy="279400"/>
          </a:xfrm>
        </p:grpSpPr>
        <p:sp>
          <p:nvSpPr>
            <p:cNvPr id="144" name="직사각형 37"/>
            <p:cNvSpPr txBox="1"/>
            <p:nvPr/>
          </p:nvSpPr>
          <p:spPr>
            <a:xfrm>
              <a:off x="272617" y="-1"/>
              <a:ext cx="6256479" cy="2794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a:spcBef>
                  <a:spcPts val="600"/>
                </a:spcBef>
                <a:defRPr>
                  <a:solidFill>
                    <a:srgbClr val="404040"/>
                  </a:solidFill>
                  <a:latin typeface="SamsungOne 700"/>
                  <a:ea typeface="SamsungOne 700"/>
                  <a:cs typeface="SamsungOne 700"/>
                  <a:sym typeface="SamsungOne 700"/>
                </a:defRPr>
              </a:lvl1pPr>
            </a:lstStyle>
            <a:p>
              <a:r>
                <a:t>Visualization </a:t>
              </a:r>
            </a:p>
          </p:txBody>
        </p:sp>
        <p:sp>
          <p:nvSpPr>
            <p:cNvPr id="145" name="직사각형 38"/>
            <p:cNvSpPr/>
            <p:nvPr/>
          </p:nvSpPr>
          <p:spPr>
            <a:xfrm>
              <a:off x="0" y="28"/>
              <a:ext cx="53665" cy="252001"/>
            </a:xfrm>
            <a:prstGeom prst="rect">
              <a:avLst/>
            </a:prstGeom>
            <a:solidFill>
              <a:srgbClr val="193EB0"/>
            </a:solidFill>
            <a:ln w="12700" cap="flat">
              <a:noFill/>
              <a:miter lim="400000"/>
            </a:ln>
            <a:effectLst/>
          </p:spPr>
          <p:txBody>
            <a:bodyPr wrap="square" lIns="45719" tIns="45719" rIns="45719" bIns="45719" numCol="1" anchor="ctr">
              <a:noAutofit/>
            </a:bodyPr>
            <a:lstStyle/>
            <a:p>
              <a:pPr algn="ctr">
                <a:defRPr sz="2800">
                  <a:solidFill>
                    <a:srgbClr val="FFFFFF"/>
                  </a:solidFill>
                </a:defRPr>
              </a:pPr>
              <a:endParaRPr/>
            </a:p>
          </p:txBody>
        </p:sp>
      </p:grpSp>
      <p:sp>
        <p:nvSpPr>
          <p:cNvPr id="147" name="TextBox 12"/>
          <p:cNvSpPr txBox="1"/>
          <p:nvPr/>
        </p:nvSpPr>
        <p:spPr>
          <a:xfrm>
            <a:off x="3364991" y="2392009"/>
            <a:ext cx="3831337" cy="3330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r>
              <a:t>Sub Category Sales Analysis</a:t>
            </a:r>
          </a:p>
        </p:txBody>
      </p:sp>
      <p:pic>
        <p:nvPicPr>
          <p:cNvPr id="148" name="Picture 3" descr="Picture 3"/>
          <p:cNvPicPr>
            <a:picLocks noChangeAspect="1"/>
          </p:cNvPicPr>
          <p:nvPr/>
        </p:nvPicPr>
        <p:blipFill>
          <a:blip r:embed="rId3"/>
          <a:stretch>
            <a:fillRect/>
          </a:stretch>
        </p:blipFill>
        <p:spPr>
          <a:xfrm>
            <a:off x="0" y="2761340"/>
            <a:ext cx="9902825" cy="3648604"/>
          </a:xfrm>
          <a:prstGeom prst="rect">
            <a:avLst/>
          </a:prstGeom>
          <a:ln w="12700">
            <a:miter lim="400000"/>
          </a:ln>
        </p:spPr>
      </p:pic>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직사각형 133"/>
          <p:cNvSpPr txBox="1"/>
          <p:nvPr/>
        </p:nvSpPr>
        <p:spPr>
          <a:xfrm>
            <a:off x="558799" y="928961"/>
            <a:ext cx="6683248" cy="838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2800">
                <a:solidFill>
                  <a:srgbClr val="FFFFFF"/>
                </a:solidFill>
                <a:latin typeface="Times New Roman"/>
                <a:ea typeface="Times New Roman"/>
                <a:cs typeface="Times New Roman"/>
                <a:sym typeface="Times New Roman"/>
              </a:defRPr>
            </a:lvl1pPr>
          </a:lstStyle>
          <a:p>
            <a:r>
              <a:t>STORE SALES AND PROFIT ANALYSIS</a:t>
            </a:r>
          </a:p>
        </p:txBody>
      </p:sp>
      <p:grpSp>
        <p:nvGrpSpPr>
          <p:cNvPr id="155" name="Group 6"/>
          <p:cNvGrpSpPr/>
          <p:nvPr/>
        </p:nvGrpSpPr>
        <p:grpSpPr>
          <a:xfrm>
            <a:off x="365575" y="2252309"/>
            <a:ext cx="6529097" cy="279401"/>
            <a:chOff x="0" y="0"/>
            <a:chExt cx="6529095" cy="279400"/>
          </a:xfrm>
        </p:grpSpPr>
        <p:sp>
          <p:nvSpPr>
            <p:cNvPr id="153" name="직사각형 37"/>
            <p:cNvSpPr txBox="1"/>
            <p:nvPr/>
          </p:nvSpPr>
          <p:spPr>
            <a:xfrm>
              <a:off x="272617" y="-1"/>
              <a:ext cx="6256479" cy="2794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a:spcBef>
                  <a:spcPts val="600"/>
                </a:spcBef>
                <a:defRPr>
                  <a:solidFill>
                    <a:srgbClr val="404040"/>
                  </a:solidFill>
                  <a:latin typeface="SamsungOne 700"/>
                  <a:ea typeface="SamsungOne 700"/>
                  <a:cs typeface="SamsungOne 700"/>
                  <a:sym typeface="SamsungOne 700"/>
                </a:defRPr>
              </a:lvl1pPr>
            </a:lstStyle>
            <a:p>
              <a:r>
                <a:t>Visualization </a:t>
              </a:r>
            </a:p>
          </p:txBody>
        </p:sp>
        <p:sp>
          <p:nvSpPr>
            <p:cNvPr id="154" name="직사각형 38"/>
            <p:cNvSpPr/>
            <p:nvPr/>
          </p:nvSpPr>
          <p:spPr>
            <a:xfrm>
              <a:off x="0" y="28"/>
              <a:ext cx="53665" cy="252001"/>
            </a:xfrm>
            <a:prstGeom prst="rect">
              <a:avLst/>
            </a:prstGeom>
            <a:solidFill>
              <a:srgbClr val="193EB0"/>
            </a:solidFill>
            <a:ln w="12700" cap="flat">
              <a:noFill/>
              <a:miter lim="400000"/>
            </a:ln>
            <a:effectLst/>
          </p:spPr>
          <p:txBody>
            <a:bodyPr wrap="square" lIns="45719" tIns="45719" rIns="45719" bIns="45719" numCol="1" anchor="ctr">
              <a:noAutofit/>
            </a:bodyPr>
            <a:lstStyle/>
            <a:p>
              <a:pPr algn="ctr">
                <a:defRPr sz="2800">
                  <a:solidFill>
                    <a:srgbClr val="FFFFFF"/>
                  </a:solidFill>
                </a:defRPr>
              </a:pPr>
              <a:endParaRPr/>
            </a:p>
          </p:txBody>
        </p:sp>
      </p:grpSp>
      <p:sp>
        <p:nvSpPr>
          <p:cNvPr id="156" name="TextBox 12"/>
          <p:cNvSpPr txBox="1"/>
          <p:nvPr/>
        </p:nvSpPr>
        <p:spPr>
          <a:xfrm>
            <a:off x="3364991" y="2325846"/>
            <a:ext cx="4553713" cy="33308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r>
              <a:t>Sub Category Profit Analysis</a:t>
            </a:r>
          </a:p>
        </p:txBody>
      </p:sp>
      <p:pic>
        <p:nvPicPr>
          <p:cNvPr id="157" name="Picture 3" descr="Picture 3"/>
          <p:cNvPicPr>
            <a:picLocks noChangeAspect="1"/>
          </p:cNvPicPr>
          <p:nvPr/>
        </p:nvPicPr>
        <p:blipFill>
          <a:blip r:embed="rId3"/>
          <a:stretch>
            <a:fillRect/>
          </a:stretch>
        </p:blipFill>
        <p:spPr>
          <a:xfrm>
            <a:off x="0" y="2695179"/>
            <a:ext cx="9902825" cy="3833638"/>
          </a:xfrm>
          <a:prstGeom prst="rect">
            <a:avLst/>
          </a:prstGeom>
          <a:ln w="12700">
            <a:miter lim="400000"/>
          </a:ln>
        </p:spPr>
      </p:pic>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 name="직사각형 133"/>
          <p:cNvSpPr txBox="1"/>
          <p:nvPr/>
        </p:nvSpPr>
        <p:spPr>
          <a:xfrm>
            <a:off x="558799" y="928961"/>
            <a:ext cx="6683248" cy="838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2800">
                <a:solidFill>
                  <a:srgbClr val="FFFFFF"/>
                </a:solidFill>
                <a:latin typeface="Times New Roman"/>
                <a:ea typeface="Times New Roman"/>
                <a:cs typeface="Times New Roman"/>
                <a:sym typeface="Times New Roman"/>
              </a:defRPr>
            </a:lvl1pPr>
          </a:lstStyle>
          <a:p>
            <a:r>
              <a:t>STORE SALES AND PROFIT ANALYSIS</a:t>
            </a:r>
          </a:p>
        </p:txBody>
      </p:sp>
      <p:grpSp>
        <p:nvGrpSpPr>
          <p:cNvPr id="164" name="Group 6"/>
          <p:cNvGrpSpPr/>
          <p:nvPr/>
        </p:nvGrpSpPr>
        <p:grpSpPr>
          <a:xfrm>
            <a:off x="365575" y="2252309"/>
            <a:ext cx="6529097" cy="279401"/>
            <a:chOff x="0" y="0"/>
            <a:chExt cx="6529095" cy="279400"/>
          </a:xfrm>
        </p:grpSpPr>
        <p:sp>
          <p:nvSpPr>
            <p:cNvPr id="162" name="직사각형 37"/>
            <p:cNvSpPr txBox="1"/>
            <p:nvPr/>
          </p:nvSpPr>
          <p:spPr>
            <a:xfrm>
              <a:off x="272617" y="-1"/>
              <a:ext cx="6256479" cy="2794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a:spcBef>
                  <a:spcPts val="600"/>
                </a:spcBef>
                <a:defRPr>
                  <a:solidFill>
                    <a:srgbClr val="404040"/>
                  </a:solidFill>
                  <a:latin typeface="SamsungOne 700"/>
                  <a:ea typeface="SamsungOne 700"/>
                  <a:cs typeface="SamsungOne 700"/>
                  <a:sym typeface="SamsungOne 700"/>
                </a:defRPr>
              </a:lvl1pPr>
            </a:lstStyle>
            <a:p>
              <a:r>
                <a:t>Visualization </a:t>
              </a:r>
            </a:p>
          </p:txBody>
        </p:sp>
        <p:sp>
          <p:nvSpPr>
            <p:cNvPr id="163" name="직사각형 38"/>
            <p:cNvSpPr/>
            <p:nvPr/>
          </p:nvSpPr>
          <p:spPr>
            <a:xfrm>
              <a:off x="0" y="28"/>
              <a:ext cx="53665" cy="252001"/>
            </a:xfrm>
            <a:prstGeom prst="rect">
              <a:avLst/>
            </a:prstGeom>
            <a:solidFill>
              <a:srgbClr val="193EB0"/>
            </a:solidFill>
            <a:ln w="12700" cap="flat">
              <a:noFill/>
              <a:miter lim="400000"/>
            </a:ln>
            <a:effectLst/>
          </p:spPr>
          <p:txBody>
            <a:bodyPr wrap="square" lIns="45719" tIns="45719" rIns="45719" bIns="45719" numCol="1" anchor="ctr">
              <a:noAutofit/>
            </a:bodyPr>
            <a:lstStyle/>
            <a:p>
              <a:pPr algn="ctr">
                <a:defRPr sz="2800">
                  <a:solidFill>
                    <a:srgbClr val="FFFFFF"/>
                  </a:solidFill>
                </a:defRPr>
              </a:pPr>
              <a:endParaRPr/>
            </a:p>
          </p:txBody>
        </p:sp>
      </p:grpSp>
      <p:sp>
        <p:nvSpPr>
          <p:cNvPr id="165" name="TextBox 12"/>
          <p:cNvSpPr txBox="1"/>
          <p:nvPr/>
        </p:nvSpPr>
        <p:spPr>
          <a:xfrm>
            <a:off x="2926079" y="2259684"/>
            <a:ext cx="4553713" cy="33308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r>
              <a:t>Segment Category Sales and Profit Analysis</a:t>
            </a:r>
          </a:p>
        </p:txBody>
      </p:sp>
      <p:pic>
        <p:nvPicPr>
          <p:cNvPr id="166" name="Picture 9" descr="Picture 9"/>
          <p:cNvPicPr>
            <a:picLocks noChangeAspect="1"/>
          </p:cNvPicPr>
          <p:nvPr/>
        </p:nvPicPr>
        <p:blipFill>
          <a:blip r:embed="rId3"/>
          <a:stretch>
            <a:fillRect/>
          </a:stretch>
        </p:blipFill>
        <p:spPr>
          <a:xfrm>
            <a:off x="237743" y="2602845"/>
            <a:ext cx="9396761" cy="3752236"/>
          </a:xfrm>
          <a:prstGeom prst="rect">
            <a:avLst/>
          </a:prstGeom>
          <a:ln w="12700">
            <a:miter lim="400000"/>
          </a:ln>
        </p:spPr>
      </p:pic>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직사각형 133"/>
          <p:cNvSpPr txBox="1"/>
          <p:nvPr/>
        </p:nvSpPr>
        <p:spPr>
          <a:xfrm>
            <a:off x="558799" y="928961"/>
            <a:ext cx="6683248" cy="838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2800">
                <a:solidFill>
                  <a:srgbClr val="FFFFFF"/>
                </a:solidFill>
                <a:latin typeface="Times New Roman"/>
                <a:ea typeface="Times New Roman"/>
                <a:cs typeface="Times New Roman"/>
                <a:sym typeface="Times New Roman"/>
              </a:defRPr>
            </a:lvl1pPr>
          </a:lstStyle>
          <a:p>
            <a:r>
              <a:t>STORE SALES AND PROFIT ANALYSIS</a:t>
            </a:r>
          </a:p>
        </p:txBody>
      </p:sp>
      <p:grpSp>
        <p:nvGrpSpPr>
          <p:cNvPr id="173" name="Group 6"/>
          <p:cNvGrpSpPr/>
          <p:nvPr/>
        </p:nvGrpSpPr>
        <p:grpSpPr>
          <a:xfrm>
            <a:off x="365575" y="2252309"/>
            <a:ext cx="6529097" cy="279401"/>
            <a:chOff x="0" y="0"/>
            <a:chExt cx="6529095" cy="279400"/>
          </a:xfrm>
        </p:grpSpPr>
        <p:sp>
          <p:nvSpPr>
            <p:cNvPr id="171" name="직사각형 37"/>
            <p:cNvSpPr txBox="1"/>
            <p:nvPr/>
          </p:nvSpPr>
          <p:spPr>
            <a:xfrm>
              <a:off x="272617" y="-1"/>
              <a:ext cx="6256479" cy="2794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a:spcBef>
                  <a:spcPts val="600"/>
                </a:spcBef>
                <a:defRPr>
                  <a:solidFill>
                    <a:srgbClr val="404040"/>
                  </a:solidFill>
                  <a:latin typeface="SamsungOne 700"/>
                  <a:ea typeface="SamsungOne 700"/>
                  <a:cs typeface="SamsungOne 700"/>
                  <a:sym typeface="SamsungOne 700"/>
                </a:defRPr>
              </a:lvl1pPr>
            </a:lstStyle>
            <a:p>
              <a:r>
                <a:t>Conclusion</a:t>
              </a:r>
            </a:p>
          </p:txBody>
        </p:sp>
        <p:sp>
          <p:nvSpPr>
            <p:cNvPr id="172" name="직사각형 38"/>
            <p:cNvSpPr/>
            <p:nvPr/>
          </p:nvSpPr>
          <p:spPr>
            <a:xfrm>
              <a:off x="0" y="28"/>
              <a:ext cx="53665" cy="252001"/>
            </a:xfrm>
            <a:prstGeom prst="rect">
              <a:avLst/>
            </a:prstGeom>
            <a:solidFill>
              <a:srgbClr val="193EB0"/>
            </a:solidFill>
            <a:ln w="12700" cap="flat">
              <a:noFill/>
              <a:miter lim="400000"/>
            </a:ln>
            <a:effectLst/>
          </p:spPr>
          <p:txBody>
            <a:bodyPr wrap="square" lIns="45719" tIns="45719" rIns="45719" bIns="45719" numCol="1" anchor="ctr">
              <a:noAutofit/>
            </a:bodyPr>
            <a:lstStyle/>
            <a:p>
              <a:pPr algn="ctr">
                <a:defRPr sz="2800">
                  <a:solidFill>
                    <a:srgbClr val="FFFFFF"/>
                  </a:solidFill>
                </a:defRPr>
              </a:pPr>
              <a:endParaRPr/>
            </a:p>
          </p:txBody>
        </p:sp>
      </p:grpSp>
      <p:sp>
        <p:nvSpPr>
          <p:cNvPr id="174" name="TextBox 9"/>
          <p:cNvSpPr txBox="1"/>
          <p:nvPr/>
        </p:nvSpPr>
        <p:spPr>
          <a:xfrm>
            <a:off x="464960" y="2947475"/>
            <a:ext cx="8861919" cy="16819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a:latin typeface="Times New Roman"/>
                <a:ea typeface="Times New Roman"/>
                <a:cs typeface="Times New Roman"/>
                <a:sym typeface="Times New Roman"/>
              </a:defRPr>
            </a:lvl1pPr>
          </a:lstStyle>
          <a:p>
            <a:r>
              <a:t>In conclusion, the code presented a robust data analysis and visualization approach for understanding store sales and profit dynamics. By leveraging Python's powerful data manipulation and visualization libraries, the code successfully provided valuable insights for making informed business decisions. The visualizations offered a clear and concise representation of key performance indicators, enabling stakeholders to identify areas of strength and opportunities for improvement within the business operations.</a:t>
            </a: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 name="직사각형 133"/>
          <p:cNvSpPr txBox="1"/>
          <p:nvPr/>
        </p:nvSpPr>
        <p:spPr>
          <a:xfrm>
            <a:off x="558799" y="928961"/>
            <a:ext cx="6683248" cy="838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2800">
                <a:solidFill>
                  <a:srgbClr val="FFFFFF"/>
                </a:solidFill>
                <a:latin typeface="Times New Roman"/>
                <a:ea typeface="Times New Roman"/>
                <a:cs typeface="Times New Roman"/>
                <a:sym typeface="Times New Roman"/>
              </a:defRPr>
            </a:lvl1pPr>
          </a:lstStyle>
          <a:p>
            <a:r>
              <a:t>STORE SALES AND PROFIT ANALYSIS</a:t>
            </a:r>
          </a:p>
        </p:txBody>
      </p:sp>
      <p:grpSp>
        <p:nvGrpSpPr>
          <p:cNvPr id="181" name="Group 6"/>
          <p:cNvGrpSpPr/>
          <p:nvPr/>
        </p:nvGrpSpPr>
        <p:grpSpPr>
          <a:xfrm>
            <a:off x="365575" y="2252309"/>
            <a:ext cx="6529097" cy="279401"/>
            <a:chOff x="0" y="0"/>
            <a:chExt cx="6529095" cy="279400"/>
          </a:xfrm>
        </p:grpSpPr>
        <p:sp>
          <p:nvSpPr>
            <p:cNvPr id="179" name="직사각형 37"/>
            <p:cNvSpPr txBox="1"/>
            <p:nvPr/>
          </p:nvSpPr>
          <p:spPr>
            <a:xfrm>
              <a:off x="272617" y="-1"/>
              <a:ext cx="6256479" cy="2794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a:spcBef>
                  <a:spcPts val="600"/>
                </a:spcBef>
                <a:defRPr>
                  <a:solidFill>
                    <a:srgbClr val="404040"/>
                  </a:solidFill>
                  <a:latin typeface="SamsungOne 700"/>
                  <a:ea typeface="SamsungOne 700"/>
                  <a:cs typeface="SamsungOne 700"/>
                  <a:sym typeface="SamsungOne 700"/>
                </a:defRPr>
              </a:lvl1pPr>
            </a:lstStyle>
            <a:p>
              <a:r>
                <a:t>Conclusion</a:t>
              </a:r>
            </a:p>
          </p:txBody>
        </p:sp>
        <p:sp>
          <p:nvSpPr>
            <p:cNvPr id="180" name="직사각형 38"/>
            <p:cNvSpPr/>
            <p:nvPr/>
          </p:nvSpPr>
          <p:spPr>
            <a:xfrm>
              <a:off x="0" y="28"/>
              <a:ext cx="53665" cy="252001"/>
            </a:xfrm>
            <a:prstGeom prst="rect">
              <a:avLst/>
            </a:prstGeom>
            <a:solidFill>
              <a:srgbClr val="193EB0"/>
            </a:solidFill>
            <a:ln w="12700" cap="flat">
              <a:noFill/>
              <a:miter lim="400000"/>
            </a:ln>
            <a:effectLst/>
          </p:spPr>
          <p:txBody>
            <a:bodyPr wrap="square" lIns="45719" tIns="45719" rIns="45719" bIns="45719" numCol="1" anchor="ctr">
              <a:noAutofit/>
            </a:bodyPr>
            <a:lstStyle/>
            <a:p>
              <a:pPr algn="ctr">
                <a:defRPr sz="2800">
                  <a:solidFill>
                    <a:srgbClr val="FFFFFF"/>
                  </a:solidFill>
                </a:defRPr>
              </a:pPr>
              <a:endParaRPr/>
            </a:p>
          </p:txBody>
        </p:sp>
      </p:grpSp>
      <p:sp>
        <p:nvSpPr>
          <p:cNvPr id="182" name="TextBox 9"/>
          <p:cNvSpPr txBox="1"/>
          <p:nvPr/>
        </p:nvSpPr>
        <p:spPr>
          <a:xfrm>
            <a:off x="464959" y="2947475"/>
            <a:ext cx="9017370" cy="30154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just">
              <a:defRPr>
                <a:latin typeface="Times New Roman"/>
                <a:ea typeface="Times New Roman"/>
                <a:cs typeface="Times New Roman"/>
                <a:sym typeface="Times New Roman"/>
              </a:defRPr>
            </a:pPr>
            <a:r>
              <a:t>Here is the breakdown of project contributions for the tasks:</a:t>
            </a:r>
          </a:p>
          <a:p>
            <a:pPr algn="just">
              <a:defRPr>
                <a:latin typeface="Times New Roman"/>
                <a:ea typeface="Times New Roman"/>
                <a:cs typeface="Times New Roman"/>
                <a:sym typeface="Times New Roman"/>
              </a:defRPr>
            </a:pPr>
            <a:endParaRPr/>
          </a:p>
          <a:p>
            <a:pPr marL="342900" indent="-342900" algn="just">
              <a:buSzPct val="100000"/>
              <a:buAutoNum type="arabicPeriod"/>
              <a:defRPr>
                <a:latin typeface="Times New Roman"/>
                <a:ea typeface="Times New Roman"/>
                <a:cs typeface="Times New Roman"/>
                <a:sym typeface="Times New Roman"/>
              </a:defRPr>
            </a:pPr>
            <a:r>
              <a:t> Yuvaraj: Created new columns for order month, order year, and order day. </a:t>
            </a:r>
          </a:p>
          <a:p>
            <a:pPr marL="342900" indent="-342900" algn="just">
              <a:buSzPct val="100000"/>
              <a:buAutoNum type="arabicPeriod"/>
              <a:defRPr>
                <a:latin typeface="Times New Roman"/>
                <a:ea typeface="Times New Roman"/>
                <a:cs typeface="Times New Roman"/>
                <a:sym typeface="Times New Roman"/>
              </a:defRPr>
            </a:pPr>
            <a:r>
              <a:t> Ronit: Performed Monthly Sales Analysis and displayed it as a line chart. </a:t>
            </a:r>
          </a:p>
          <a:p>
            <a:pPr marL="342900" indent="-342900" algn="just">
              <a:buSzPct val="100000"/>
              <a:buAutoNum type="arabicPeriod"/>
              <a:defRPr>
                <a:latin typeface="Times New Roman"/>
                <a:ea typeface="Times New Roman"/>
                <a:cs typeface="Times New Roman"/>
                <a:sym typeface="Times New Roman"/>
              </a:defRPr>
            </a:pPr>
            <a:r>
              <a:t> Haneesh: Conducted sales by category Analysis and displayed it as a pie chart.</a:t>
            </a:r>
          </a:p>
          <a:p>
            <a:pPr algn="just">
              <a:defRPr>
                <a:latin typeface="Times New Roman"/>
                <a:ea typeface="Times New Roman"/>
                <a:cs typeface="Times New Roman"/>
                <a:sym typeface="Times New Roman"/>
              </a:defRPr>
            </a:pPr>
            <a:r>
              <a:t>4.    Gowtham: Analyzed sales by sub-category and displayed it as a bar chart.</a:t>
            </a:r>
          </a:p>
          <a:p>
            <a:pPr algn="just">
              <a:defRPr>
                <a:latin typeface="Times New Roman"/>
                <a:ea typeface="Times New Roman"/>
                <a:cs typeface="Times New Roman"/>
                <a:sym typeface="Times New Roman"/>
              </a:defRPr>
            </a:pPr>
            <a:r>
              <a:t>5.    Yuvaraj: Performed Monthly Profit Analysis and displayed it as a line chart.</a:t>
            </a:r>
          </a:p>
          <a:p>
            <a:pPr algn="just">
              <a:defRPr>
                <a:latin typeface="Times New Roman"/>
                <a:ea typeface="Times New Roman"/>
                <a:cs typeface="Times New Roman"/>
                <a:sym typeface="Times New Roman"/>
              </a:defRPr>
            </a:pPr>
            <a:r>
              <a:t>6.    Ronit: Conducted profit by category Analysis and displayed it as a pie chart.</a:t>
            </a:r>
          </a:p>
          <a:p>
            <a:pPr algn="just">
              <a:defRPr>
                <a:latin typeface="Times New Roman"/>
                <a:ea typeface="Times New Roman"/>
                <a:cs typeface="Times New Roman"/>
                <a:sym typeface="Times New Roman"/>
              </a:defRPr>
            </a:pPr>
            <a:r>
              <a:t>7.    Haneesh: Analyzed profit by sub-category and displayed it as a bar chart.</a:t>
            </a:r>
          </a:p>
          <a:p>
            <a:pPr marL="342900" indent="-342900" algn="just">
              <a:buSzPct val="100000"/>
              <a:buAutoNum type="arabicPeriod" startAt="8"/>
              <a:defRPr>
                <a:latin typeface="Times New Roman"/>
                <a:ea typeface="Times New Roman"/>
                <a:cs typeface="Times New Roman"/>
                <a:sym typeface="Times New Roman"/>
              </a:defRPr>
            </a:pPr>
            <a:r>
              <a:t>Gowtham: Conducted sales and profit analysis by customer segments and displayed it as a </a:t>
            </a:r>
          </a:p>
          <a:p>
            <a:pPr algn="just">
              <a:defRPr>
                <a:latin typeface="Times New Roman"/>
                <a:ea typeface="Times New Roman"/>
                <a:cs typeface="Times New Roman"/>
                <a:sym typeface="Times New Roman"/>
              </a:defRPr>
            </a:pPr>
            <a:r>
              <a:t>                        bar chart.            </a:t>
            </a: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spd="med"/>
</p:sld>
</file>

<file path=ppt/theme/theme1.xml><?xml version="1.0" encoding="utf-8"?>
<a:theme xmlns:a="http://schemas.openxmlformats.org/drawingml/2006/main" name="SIC_Template_AI">
  <a:themeElements>
    <a:clrScheme name="SIC_Template_AI">
      <a:dk1>
        <a:srgbClr val="000000"/>
      </a:dk1>
      <a:lt1>
        <a:srgbClr val="193EB0"/>
      </a:lt1>
      <a:dk2>
        <a:srgbClr val="A7A7A7"/>
      </a:dk2>
      <a:lt2>
        <a:srgbClr val="535353"/>
      </a:lt2>
      <a:accent1>
        <a:srgbClr val="5B9BD5"/>
      </a:accent1>
      <a:accent2>
        <a:srgbClr val="ED7D31"/>
      </a:accent2>
      <a:accent3>
        <a:srgbClr val="A5A5A5"/>
      </a:accent3>
      <a:accent4>
        <a:srgbClr val="FFC000"/>
      </a:accent4>
      <a:accent5>
        <a:srgbClr val="4472C4"/>
      </a:accent5>
      <a:accent6>
        <a:srgbClr val="70AD47"/>
      </a:accent6>
      <a:hlink>
        <a:srgbClr val="0000FF"/>
      </a:hlink>
      <a:folHlink>
        <a:srgbClr val="FF00FF"/>
      </a:folHlink>
    </a:clrScheme>
    <a:fontScheme name="SIC_Template_AI">
      <a:majorFont>
        <a:latin typeface="Helvetica"/>
        <a:ea typeface="Helvetica"/>
        <a:cs typeface="Helvetica"/>
      </a:majorFont>
      <a:minorFont>
        <a:latin typeface="맑은 고딕"/>
        <a:ea typeface="맑은 고딕"/>
        <a:cs typeface="맑은 고딕"/>
      </a:minorFont>
    </a:fontScheme>
    <a:fmtScheme name="SIC_Template_AI">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SIC_Template_AI">
  <a:themeElements>
    <a:clrScheme name="SIC_Template_AI">
      <a:dk1>
        <a:srgbClr val="000000"/>
      </a:dk1>
      <a:lt1>
        <a:srgbClr val="FFFFFF"/>
      </a:lt1>
      <a:dk2>
        <a:srgbClr val="A7A7A7"/>
      </a:dk2>
      <a:lt2>
        <a:srgbClr val="535353"/>
      </a:lt2>
      <a:accent1>
        <a:srgbClr val="5B9BD5"/>
      </a:accent1>
      <a:accent2>
        <a:srgbClr val="ED7D31"/>
      </a:accent2>
      <a:accent3>
        <a:srgbClr val="A5A5A5"/>
      </a:accent3>
      <a:accent4>
        <a:srgbClr val="FFC000"/>
      </a:accent4>
      <a:accent5>
        <a:srgbClr val="4472C4"/>
      </a:accent5>
      <a:accent6>
        <a:srgbClr val="70AD47"/>
      </a:accent6>
      <a:hlink>
        <a:srgbClr val="0000FF"/>
      </a:hlink>
      <a:folHlink>
        <a:srgbClr val="FF00FF"/>
      </a:folHlink>
    </a:clrScheme>
    <a:fontScheme name="SIC_Template_AI">
      <a:majorFont>
        <a:latin typeface="Helvetica"/>
        <a:ea typeface="Helvetica"/>
        <a:cs typeface="Helvetica"/>
      </a:majorFont>
      <a:minorFont>
        <a:latin typeface="맑은 고딕"/>
        <a:ea typeface="맑은 고딕"/>
        <a:cs typeface="맑은 고딕"/>
      </a:minorFont>
    </a:fontScheme>
    <a:fmtScheme name="SIC_Template_AI">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0</TotalTime>
  <Words>696</Words>
  <Application>Microsoft Macintosh PowerPoint</Application>
  <PresentationFormat>Custom</PresentationFormat>
  <Paragraphs>92</Paragraphs>
  <Slides>15</Slides>
  <Notes>14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맑은 고딕</vt:lpstr>
      <vt:lpstr>Arial</vt:lpstr>
      <vt:lpstr>Calibri</vt:lpstr>
      <vt:lpstr>Calibri Light</vt:lpstr>
      <vt:lpstr>Samsung Sharp Sans</vt:lpstr>
      <vt:lpstr>SamsungOne 300</vt:lpstr>
      <vt:lpstr>SIC_Template_AI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HANEESH KUMAR D_1DB21EC050</cp:lastModifiedBy>
  <cp:revision>1</cp:revision>
  <dcterms:modified xsi:type="dcterms:W3CDTF">2026-05-14T07:35:13Z</dcterms:modified>
</cp:coreProperties>
</file>